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4" r:id="rId17"/>
    <p:sldId id="272" r:id="rId18"/>
    <p:sldId id="275" r:id="rId19"/>
    <p:sldId id="270" r:id="rId20"/>
    <p:sldId id="271"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9D63C30-A6FD-C299-18BB-B9D22C722E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1200AC68-9D66-5974-C88D-9190EA2FCB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45C208-11D3-473D-AE97-967CD19E2D99}" type="datetimeFigureOut">
              <a:rPr lang="es-MX" smtClean="0"/>
              <a:t>26/10/2025</a:t>
            </a:fld>
            <a:endParaRPr lang="es-MX"/>
          </a:p>
        </p:txBody>
      </p:sp>
      <p:sp>
        <p:nvSpPr>
          <p:cNvPr id="4" name="Marcador de pie de página 3">
            <a:extLst>
              <a:ext uri="{FF2B5EF4-FFF2-40B4-BE49-F238E27FC236}">
                <a16:creationId xmlns:a16="http://schemas.microsoft.com/office/drawing/2014/main" id="{7B363094-E219-6462-32A8-748058BAF51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3E3A8EB4-B7E8-3E6D-FD1B-F9EC691CD9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7723E6-6D67-4DCC-9B93-10C8CE863065}" type="slidenum">
              <a:rPr lang="es-MX" smtClean="0"/>
              <a:t>‹Nº›</a:t>
            </a:fld>
            <a:endParaRPr lang="es-MX"/>
          </a:p>
        </p:txBody>
      </p:sp>
    </p:spTree>
    <p:extLst>
      <p:ext uri="{BB962C8B-B14F-4D97-AF65-F5344CB8AC3E}">
        <p14:creationId xmlns:p14="http://schemas.microsoft.com/office/powerpoint/2010/main" val="31279900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6A67F-25C0-4294-A22C-4D95199B1878}" type="datetimeFigureOut">
              <a:rPr lang="es-MX" smtClean="0"/>
              <a:t>26/10/2025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1803B7-9425-432B-B512-8184EDB73A5F}" type="slidenum">
              <a:rPr lang="es-MX" smtClean="0"/>
              <a:t>‹Nº›</a:t>
            </a:fld>
            <a:endParaRPr lang="es-MX"/>
          </a:p>
        </p:txBody>
      </p:sp>
    </p:spTree>
    <p:extLst>
      <p:ext uri="{BB962C8B-B14F-4D97-AF65-F5344CB8AC3E}">
        <p14:creationId xmlns:p14="http://schemas.microsoft.com/office/powerpoint/2010/main" val="804082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1F1803B7-9425-432B-B512-8184EDB73A5F}" type="slidenum">
              <a:rPr lang="es-MX" smtClean="0"/>
              <a:t>17</a:t>
            </a:fld>
            <a:endParaRPr lang="es-MX"/>
          </a:p>
        </p:txBody>
      </p:sp>
    </p:spTree>
    <p:extLst>
      <p:ext uri="{BB962C8B-B14F-4D97-AF65-F5344CB8AC3E}">
        <p14:creationId xmlns:p14="http://schemas.microsoft.com/office/powerpoint/2010/main" val="416795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CC1F8-93D0-5C24-077E-3DEFFA3216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FF91D3-1EDD-8DC0-0605-C3D58D04CB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A4E40C-8432-F30F-56AC-79B1377AA6F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6C82182-503D-0113-3773-AB7EC4C52274}"/>
              </a:ext>
            </a:extLst>
          </p:cNvPr>
          <p:cNvSpPr>
            <a:spLocks noGrp="1"/>
          </p:cNvSpPr>
          <p:nvPr>
            <p:ph type="sldNum" sz="quarter" idx="5"/>
          </p:nvPr>
        </p:nvSpPr>
        <p:spPr/>
        <p:txBody>
          <a:bodyPr/>
          <a:lstStyle/>
          <a:p>
            <a:fld id="{1F1803B7-9425-432B-B512-8184EDB73A5F}" type="slidenum">
              <a:rPr lang="es-MX" smtClean="0"/>
              <a:t>18</a:t>
            </a:fld>
            <a:endParaRPr lang="es-MX"/>
          </a:p>
        </p:txBody>
      </p:sp>
    </p:spTree>
    <p:extLst>
      <p:ext uri="{BB962C8B-B14F-4D97-AF65-F5344CB8AC3E}">
        <p14:creationId xmlns:p14="http://schemas.microsoft.com/office/powerpoint/2010/main" val="615137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31200C-9A2A-055E-1C1E-39FCF5534A8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C22DBD0C-90CB-C7E1-83AE-14D9CCBB79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695E04C5-207E-C061-4A75-4409FFD1B0B3}"/>
              </a:ext>
            </a:extLst>
          </p:cNvPr>
          <p:cNvSpPr>
            <a:spLocks noGrp="1"/>
          </p:cNvSpPr>
          <p:nvPr>
            <p:ph type="dt" sz="half" idx="10"/>
          </p:nvPr>
        </p:nvSpPr>
        <p:spPr/>
        <p:txBody>
          <a:bodyPr/>
          <a:lstStyle/>
          <a:p>
            <a:fld id="{AAD201EA-5731-4B8E-9672-CEA41F53B0B9}" type="datetime1">
              <a:rPr lang="es-MX" smtClean="0"/>
              <a:t>26/10/2025</a:t>
            </a:fld>
            <a:endParaRPr lang="es-MX"/>
          </a:p>
        </p:txBody>
      </p:sp>
      <p:sp>
        <p:nvSpPr>
          <p:cNvPr id="5" name="Marcador de pie de página 4">
            <a:extLst>
              <a:ext uri="{FF2B5EF4-FFF2-40B4-BE49-F238E27FC236}">
                <a16:creationId xmlns:a16="http://schemas.microsoft.com/office/drawing/2014/main" id="{DB2ED429-7214-E15D-44F1-85E57C1751F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2B648F5-A39C-BF99-8E31-1503EC76D098}"/>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68785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3BD57-E946-CD66-38D3-AF3D40320F7A}"/>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49FD0238-BA69-6144-7154-71570B297EA0}"/>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EB961EB8-8AEB-A764-1481-D86C85AFE75A}"/>
              </a:ext>
            </a:extLst>
          </p:cNvPr>
          <p:cNvSpPr>
            <a:spLocks noGrp="1"/>
          </p:cNvSpPr>
          <p:nvPr>
            <p:ph type="dt" sz="half" idx="10"/>
          </p:nvPr>
        </p:nvSpPr>
        <p:spPr/>
        <p:txBody>
          <a:bodyPr/>
          <a:lstStyle/>
          <a:p>
            <a:fld id="{604752A0-430E-482E-B620-6D13E44AADD3}" type="datetime1">
              <a:rPr lang="es-MX" smtClean="0"/>
              <a:t>26/10/2025</a:t>
            </a:fld>
            <a:endParaRPr lang="es-MX"/>
          </a:p>
        </p:txBody>
      </p:sp>
      <p:sp>
        <p:nvSpPr>
          <p:cNvPr id="5" name="Marcador de pie de página 4">
            <a:extLst>
              <a:ext uri="{FF2B5EF4-FFF2-40B4-BE49-F238E27FC236}">
                <a16:creationId xmlns:a16="http://schemas.microsoft.com/office/drawing/2014/main" id="{21D22B86-B0A1-F4CA-8D82-E8AC8EEFBC9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D59A4E-0687-B00A-A4E8-E04A9718A922}"/>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3551439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8A6472-0FBE-3A38-D0AD-A3FC24CFC4F0}"/>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689F6DCC-05C8-9FBC-B67A-8EE93B8448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B726A269-2C1A-1D24-AA80-66263A1787DE}"/>
              </a:ext>
            </a:extLst>
          </p:cNvPr>
          <p:cNvSpPr>
            <a:spLocks noGrp="1"/>
          </p:cNvSpPr>
          <p:nvPr>
            <p:ph type="dt" sz="half" idx="10"/>
          </p:nvPr>
        </p:nvSpPr>
        <p:spPr/>
        <p:txBody>
          <a:bodyPr/>
          <a:lstStyle/>
          <a:p>
            <a:fld id="{8943D7CC-5A3C-40E6-9044-EBF64048F801}" type="datetime1">
              <a:rPr lang="es-MX" smtClean="0"/>
              <a:t>26/10/2025</a:t>
            </a:fld>
            <a:endParaRPr lang="es-MX"/>
          </a:p>
        </p:txBody>
      </p:sp>
      <p:sp>
        <p:nvSpPr>
          <p:cNvPr id="5" name="Marcador de pie de página 4">
            <a:extLst>
              <a:ext uri="{FF2B5EF4-FFF2-40B4-BE49-F238E27FC236}">
                <a16:creationId xmlns:a16="http://schemas.microsoft.com/office/drawing/2014/main" id="{C39F5011-DC8C-9429-F8C8-79024E27BA9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CD9DD46-574E-AD64-4B3A-27525BD06D3B}"/>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3072331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9BD67C-F52C-4A40-5A93-78168BF8EB75}"/>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5703C5AA-7C87-86EE-3BD2-8F482B7F5350}"/>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434A77E8-FC3F-9D47-C08E-EB0D7BD183E5}"/>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63EFA333-411F-7189-5FD3-28492C0199F6}"/>
              </a:ext>
            </a:extLst>
          </p:cNvPr>
          <p:cNvSpPr>
            <a:spLocks noGrp="1"/>
          </p:cNvSpPr>
          <p:nvPr>
            <p:ph type="dt" sz="half" idx="10"/>
          </p:nvPr>
        </p:nvSpPr>
        <p:spPr/>
        <p:txBody>
          <a:bodyPr/>
          <a:lstStyle/>
          <a:p>
            <a:fld id="{531FBD68-5B42-4313-8689-B48059D300F0}" type="datetime1">
              <a:rPr lang="es-MX" smtClean="0"/>
              <a:t>26/10/2025</a:t>
            </a:fld>
            <a:endParaRPr lang="es-MX"/>
          </a:p>
        </p:txBody>
      </p:sp>
      <p:sp>
        <p:nvSpPr>
          <p:cNvPr id="6" name="Marcador de pie de página 5">
            <a:extLst>
              <a:ext uri="{FF2B5EF4-FFF2-40B4-BE49-F238E27FC236}">
                <a16:creationId xmlns:a16="http://schemas.microsoft.com/office/drawing/2014/main" id="{C83F3384-2B2F-2E63-00E3-66470C85D74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58E69D9-9DFC-0937-506F-7003CC232A66}"/>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2675653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AEAEB0-5322-8591-66C8-5CE4CB28A43F}"/>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00F45654-29E9-FE8C-000A-1B9D1CDD97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96509225-5ACE-BBEA-74B7-15EE7EBB6693}"/>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3BD11031-41E5-608F-E6D5-EF5EF592ED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D4231273-1426-CCC2-C3D9-092F6BA9A337}"/>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1B37AF0D-8402-B5EB-A7B2-7508BDFD9329}"/>
              </a:ext>
            </a:extLst>
          </p:cNvPr>
          <p:cNvSpPr>
            <a:spLocks noGrp="1"/>
          </p:cNvSpPr>
          <p:nvPr>
            <p:ph type="dt" sz="half" idx="10"/>
          </p:nvPr>
        </p:nvSpPr>
        <p:spPr/>
        <p:txBody>
          <a:bodyPr/>
          <a:lstStyle/>
          <a:p>
            <a:fld id="{3526FBAC-0C31-41A6-8D3F-9024C8FFDDE3}" type="datetime1">
              <a:rPr lang="es-MX" smtClean="0"/>
              <a:t>26/10/2025</a:t>
            </a:fld>
            <a:endParaRPr lang="es-MX"/>
          </a:p>
        </p:txBody>
      </p:sp>
      <p:sp>
        <p:nvSpPr>
          <p:cNvPr id="8" name="Marcador de pie de página 7">
            <a:extLst>
              <a:ext uri="{FF2B5EF4-FFF2-40B4-BE49-F238E27FC236}">
                <a16:creationId xmlns:a16="http://schemas.microsoft.com/office/drawing/2014/main" id="{DE1743AF-6120-82C7-BB49-E336F5CE907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8462991D-A459-9FAA-9FF0-3BCCC2866EBF}"/>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1894824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D3346F-46D0-A0EF-C90F-681FA1B7A023}"/>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705CEE18-24F8-AD8D-FA47-28C7320E6F96}"/>
              </a:ext>
            </a:extLst>
          </p:cNvPr>
          <p:cNvSpPr>
            <a:spLocks noGrp="1"/>
          </p:cNvSpPr>
          <p:nvPr>
            <p:ph type="dt" sz="half" idx="10"/>
          </p:nvPr>
        </p:nvSpPr>
        <p:spPr/>
        <p:txBody>
          <a:bodyPr/>
          <a:lstStyle/>
          <a:p>
            <a:fld id="{3DBAA877-055E-4FD3-9BC4-7EB9FA5B5EEE}" type="datetime1">
              <a:rPr lang="es-MX" smtClean="0"/>
              <a:t>26/10/2025</a:t>
            </a:fld>
            <a:endParaRPr lang="es-MX"/>
          </a:p>
        </p:txBody>
      </p:sp>
      <p:sp>
        <p:nvSpPr>
          <p:cNvPr id="4" name="Marcador de pie de página 3">
            <a:extLst>
              <a:ext uri="{FF2B5EF4-FFF2-40B4-BE49-F238E27FC236}">
                <a16:creationId xmlns:a16="http://schemas.microsoft.com/office/drawing/2014/main" id="{5C84BCE5-F442-A3CA-9CAE-6D56F5FFF9C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0BA9C7F-1153-69D8-B495-31628CECD620}"/>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729068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8958610-296B-F2E3-2DCE-4A9F53EE1B8F}"/>
              </a:ext>
            </a:extLst>
          </p:cNvPr>
          <p:cNvSpPr>
            <a:spLocks noGrp="1"/>
          </p:cNvSpPr>
          <p:nvPr>
            <p:ph type="dt" sz="half" idx="10"/>
          </p:nvPr>
        </p:nvSpPr>
        <p:spPr/>
        <p:txBody>
          <a:bodyPr/>
          <a:lstStyle/>
          <a:p>
            <a:fld id="{D3BCAA97-6957-4CB6-A139-19D32DA2E461}" type="datetime1">
              <a:rPr lang="es-MX" smtClean="0"/>
              <a:t>26/10/2025</a:t>
            </a:fld>
            <a:endParaRPr lang="es-MX"/>
          </a:p>
        </p:txBody>
      </p:sp>
      <p:sp>
        <p:nvSpPr>
          <p:cNvPr id="3" name="Marcador de pie de página 2">
            <a:extLst>
              <a:ext uri="{FF2B5EF4-FFF2-40B4-BE49-F238E27FC236}">
                <a16:creationId xmlns:a16="http://schemas.microsoft.com/office/drawing/2014/main" id="{08850DBD-C929-95E4-A6DC-C4BB2E5B890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B5EF1ED-1029-0B9F-273D-A4679CADCAA9}"/>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2061201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EB3A06-F17E-33BB-482D-BBD6843F611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89D881EB-A54F-1118-DC9D-A0D15492DD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D3F5665F-8DCC-F4AC-24B8-FB5625A3BC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F32BB78-D045-FFC4-2203-4D2024DA05D0}"/>
              </a:ext>
            </a:extLst>
          </p:cNvPr>
          <p:cNvSpPr>
            <a:spLocks noGrp="1"/>
          </p:cNvSpPr>
          <p:nvPr>
            <p:ph type="dt" sz="half" idx="10"/>
          </p:nvPr>
        </p:nvSpPr>
        <p:spPr/>
        <p:txBody>
          <a:bodyPr/>
          <a:lstStyle/>
          <a:p>
            <a:fld id="{625362AF-B2FD-49FC-88FD-39367F3F3175}" type="datetime1">
              <a:rPr lang="es-MX" smtClean="0"/>
              <a:t>26/10/2025</a:t>
            </a:fld>
            <a:endParaRPr lang="es-MX"/>
          </a:p>
        </p:txBody>
      </p:sp>
      <p:sp>
        <p:nvSpPr>
          <p:cNvPr id="6" name="Marcador de pie de página 5">
            <a:extLst>
              <a:ext uri="{FF2B5EF4-FFF2-40B4-BE49-F238E27FC236}">
                <a16:creationId xmlns:a16="http://schemas.microsoft.com/office/drawing/2014/main" id="{708E53FE-F034-6E93-DE72-8881DE4D127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C8E2837-003D-FD24-74C9-BDD99CEE3D29}"/>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773364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C7C032-BA68-AB1F-649F-99B495C27AD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1C50B5A1-CC43-DD7A-A8E7-502BE3D42B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2010E77-3B5E-704A-FB77-FA44D0EF1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BC492DD-CFAB-639E-A144-485DAC7EE331}"/>
              </a:ext>
            </a:extLst>
          </p:cNvPr>
          <p:cNvSpPr>
            <a:spLocks noGrp="1"/>
          </p:cNvSpPr>
          <p:nvPr>
            <p:ph type="dt" sz="half" idx="10"/>
          </p:nvPr>
        </p:nvSpPr>
        <p:spPr/>
        <p:txBody>
          <a:bodyPr/>
          <a:lstStyle/>
          <a:p>
            <a:fld id="{D4D4727C-D404-4541-9857-AF313F761088}" type="datetime1">
              <a:rPr lang="es-MX" smtClean="0"/>
              <a:t>26/10/2025</a:t>
            </a:fld>
            <a:endParaRPr lang="es-MX"/>
          </a:p>
        </p:txBody>
      </p:sp>
      <p:sp>
        <p:nvSpPr>
          <p:cNvPr id="6" name="Marcador de pie de página 5">
            <a:extLst>
              <a:ext uri="{FF2B5EF4-FFF2-40B4-BE49-F238E27FC236}">
                <a16:creationId xmlns:a16="http://schemas.microsoft.com/office/drawing/2014/main" id="{C279F843-A6C1-3D44-46C0-F3ED224FFE5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FC8B375-9EC1-2DC5-7252-95336187BD8D}"/>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2524241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39C18E-B4B8-9A44-0686-0BCA74B71541}"/>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2B72DCD9-738B-598C-91EE-34D4D3EA1C4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066E72B3-631A-69B0-4546-C63778A579E1}"/>
              </a:ext>
            </a:extLst>
          </p:cNvPr>
          <p:cNvSpPr>
            <a:spLocks noGrp="1"/>
          </p:cNvSpPr>
          <p:nvPr>
            <p:ph type="dt" sz="half" idx="10"/>
          </p:nvPr>
        </p:nvSpPr>
        <p:spPr/>
        <p:txBody>
          <a:bodyPr/>
          <a:lstStyle/>
          <a:p>
            <a:fld id="{785DB5A1-0432-4D66-B469-F315225B543D}" type="datetime1">
              <a:rPr lang="es-MX" smtClean="0"/>
              <a:t>26/10/2025</a:t>
            </a:fld>
            <a:endParaRPr lang="es-MX"/>
          </a:p>
        </p:txBody>
      </p:sp>
      <p:sp>
        <p:nvSpPr>
          <p:cNvPr id="5" name="Marcador de pie de página 4">
            <a:extLst>
              <a:ext uri="{FF2B5EF4-FFF2-40B4-BE49-F238E27FC236}">
                <a16:creationId xmlns:a16="http://schemas.microsoft.com/office/drawing/2014/main" id="{46501FB6-C49E-2536-047A-BA65591E58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DEEDD21-1BDF-756C-FE8A-78C3C314601E}"/>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2254779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4041DDF-4C71-CB3A-0006-447D2ED71D01}"/>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5EB1CB9F-DD4A-457B-9F79-B19C28AB6787}"/>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95941664-0DD6-5DA7-2DF7-7FCEDE3D788B}"/>
              </a:ext>
            </a:extLst>
          </p:cNvPr>
          <p:cNvSpPr>
            <a:spLocks noGrp="1"/>
          </p:cNvSpPr>
          <p:nvPr>
            <p:ph type="dt" sz="half" idx="10"/>
          </p:nvPr>
        </p:nvSpPr>
        <p:spPr/>
        <p:txBody>
          <a:bodyPr/>
          <a:lstStyle/>
          <a:p>
            <a:fld id="{8EB03161-1320-4426-8770-6D99EF81BEE0}" type="datetime1">
              <a:rPr lang="es-MX" smtClean="0"/>
              <a:t>26/10/2025</a:t>
            </a:fld>
            <a:endParaRPr lang="es-MX"/>
          </a:p>
        </p:txBody>
      </p:sp>
      <p:sp>
        <p:nvSpPr>
          <p:cNvPr id="5" name="Marcador de pie de página 4">
            <a:extLst>
              <a:ext uri="{FF2B5EF4-FFF2-40B4-BE49-F238E27FC236}">
                <a16:creationId xmlns:a16="http://schemas.microsoft.com/office/drawing/2014/main" id="{8969AE17-77C7-1DF1-76A7-36761847B59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5E359B9-53C2-0261-3DF7-1764CB50AD99}"/>
              </a:ext>
            </a:extLst>
          </p:cNvPr>
          <p:cNvSpPr>
            <a:spLocks noGrp="1"/>
          </p:cNvSpPr>
          <p:nvPr>
            <p:ph type="sldNum" sz="quarter" idx="12"/>
          </p:nvPr>
        </p:nvSpPr>
        <p:spPr/>
        <p:txBody>
          <a:bodyPr/>
          <a:lstStyle/>
          <a:p>
            <a:fld id="{69FA31F3-3ACA-4F8A-A5BF-5A97288E8B98}" type="slidenum">
              <a:rPr lang="es-MX" smtClean="0"/>
              <a:t>‹Nº›</a:t>
            </a:fld>
            <a:endParaRPr lang="es-MX"/>
          </a:p>
        </p:txBody>
      </p:sp>
    </p:spTree>
    <p:extLst>
      <p:ext uri="{BB962C8B-B14F-4D97-AF65-F5344CB8AC3E}">
        <p14:creationId xmlns:p14="http://schemas.microsoft.com/office/powerpoint/2010/main" val="623408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FEFA34C-3518-14C8-37FA-A7C3DDA5F0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88AED61B-B6E6-C635-C81C-40B91311A1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F9725E1D-C0FF-0C00-F7FB-E8B051C81A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659564-56A1-44A8-A5A5-9BFADEADD4DD}" type="datetime1">
              <a:rPr lang="es-MX" smtClean="0"/>
              <a:t>26/10/2025</a:t>
            </a:fld>
            <a:endParaRPr lang="es-MX"/>
          </a:p>
        </p:txBody>
      </p:sp>
      <p:sp>
        <p:nvSpPr>
          <p:cNvPr id="5" name="Marcador de pie de página 4">
            <a:extLst>
              <a:ext uri="{FF2B5EF4-FFF2-40B4-BE49-F238E27FC236}">
                <a16:creationId xmlns:a16="http://schemas.microsoft.com/office/drawing/2014/main" id="{57CF1BC6-3FE3-2856-F832-F6024FB2F9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CEFA8472-AE26-15F6-B20B-FCFD054093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A31F3-3ACA-4F8A-A5BF-5A97288E8B98}" type="slidenum">
              <a:rPr lang="es-MX" smtClean="0"/>
              <a:t>‹Nº›</a:t>
            </a:fld>
            <a:endParaRPr lang="es-MX"/>
          </a:p>
        </p:txBody>
      </p:sp>
    </p:spTree>
    <p:extLst>
      <p:ext uri="{BB962C8B-B14F-4D97-AF65-F5344CB8AC3E}">
        <p14:creationId xmlns:p14="http://schemas.microsoft.com/office/powerpoint/2010/main" val="1231656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302477C-EB64-D447-E7F8-28B47990C562}"/>
              </a:ext>
            </a:extLst>
          </p:cNvPr>
          <p:cNvSpPr txBox="1"/>
          <p:nvPr/>
        </p:nvSpPr>
        <p:spPr>
          <a:xfrm>
            <a:off x="3105462" y="1109272"/>
            <a:ext cx="5981076" cy="6237605"/>
          </a:xfrm>
          <a:prstGeom prst="rect">
            <a:avLst/>
          </a:prstGeom>
          <a:noFill/>
        </p:spPr>
        <p:txBody>
          <a:bodyPr wrap="square" rtlCol="0">
            <a:spAutoFit/>
          </a:bodyPr>
          <a:lstStyle/>
          <a:p>
            <a:pPr algn="ctr">
              <a:lnSpc>
                <a:spcPct val="150000"/>
              </a:lnSpc>
              <a:spcBef>
                <a:spcPts val="1200"/>
              </a:spcBef>
              <a:spcAft>
                <a:spcPts val="12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Tecnológico Nacional de México</a:t>
            </a:r>
            <a:endParaRPr lang="es-MX" sz="11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 </a:t>
            </a:r>
            <a:endParaRPr lang="es-MX" sz="11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Aft>
                <a:spcPts val="8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Reporte de práctica “</a:t>
            </a:r>
            <a:r>
              <a:rPr lang="es-ES" sz="1100" dirty="0">
                <a:effectLst/>
                <a:latin typeface="Arial" panose="020B0604020202020204" pitchFamily="34" charset="0"/>
                <a:ea typeface="Aptos" panose="020B0004020202020204" pitchFamily="34" charset="0"/>
                <a:cs typeface="Arial" panose="020B0604020202020204" pitchFamily="34" charset="0"/>
              </a:rPr>
              <a:t>Codificación y pruebas de la aplicación Punto de venta con fechas de caducidad”</a:t>
            </a:r>
            <a:endParaRPr lang="es-MX" sz="1100" dirty="0">
              <a:latin typeface="Arial" panose="020B0604020202020204" pitchFamily="34" charset="0"/>
              <a:ea typeface="Aptos" panose="020B0004020202020204" pitchFamily="34" charset="0"/>
              <a:cs typeface="Arial" panose="020B0604020202020204" pitchFamily="34" charset="0"/>
            </a:endParaRPr>
          </a:p>
          <a:p>
            <a:pPr algn="ctr">
              <a:lnSpc>
                <a:spcPct val="150000"/>
              </a:lnSpc>
              <a:spcAft>
                <a:spcPts val="8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Ingeniería de Software</a:t>
            </a:r>
            <a:endParaRPr lang="es-MX" sz="11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Integrantes: Gleysi Yoselin Escobedo López</a:t>
            </a:r>
          </a:p>
          <a:p>
            <a:pPr algn="ctr">
              <a:lnSpc>
                <a:spcPct val="150000"/>
              </a:lnSpc>
              <a:spcBef>
                <a:spcPts val="1200"/>
              </a:spcBef>
              <a:spcAft>
                <a:spcPts val="1200"/>
              </a:spcAft>
              <a:buNone/>
            </a:pPr>
            <a:r>
              <a:rPr lang="es-ES" sz="1100" dirty="0">
                <a:solidFill>
                  <a:srgbClr val="000000"/>
                </a:solidFill>
                <a:latin typeface="Arial" panose="020B0604020202020204" pitchFamily="34" charset="0"/>
                <a:ea typeface="Aptos" panose="020B0004020202020204" pitchFamily="34" charset="0"/>
                <a:cs typeface="Arial" panose="020B0604020202020204" pitchFamily="34" charset="0"/>
              </a:rPr>
              <a:t>Reynaldo Felipe Morales Silva</a:t>
            </a:r>
            <a:endParaRPr lang="es-MX" sz="11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6 </a:t>
            </a:r>
            <a:endParaRPr lang="es-MX" sz="1100" dirty="0">
              <a:latin typeface="Arial" panose="020B0604020202020204" pitchFamily="34" charset="0"/>
              <a:ea typeface="Arial" panose="020B0604020202020204" pitchFamily="34" charset="0"/>
              <a:cs typeface="Arial" panose="020B0604020202020204" pitchFamily="34" charset="0"/>
            </a:endParaRPr>
          </a:p>
          <a:p>
            <a:pPr algn="ctr">
              <a:lnSpc>
                <a:spcPct val="150000"/>
              </a:lnSpc>
              <a:spcBef>
                <a:spcPts val="1200"/>
              </a:spcBef>
              <a:spcAft>
                <a:spcPts val="12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Número de control: 22270456</a:t>
            </a:r>
            <a:endParaRPr lang="es-MX" sz="11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lang="es-MX" sz="11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Docente: Ing. Francisco Javier Mingo  </a:t>
            </a:r>
            <a:endParaRPr lang="es-MX" sz="11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pP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 </a:t>
            </a:r>
            <a:r>
              <a:rPr lang="es-ES" sz="1100" dirty="0">
                <a:solidFill>
                  <a:srgbClr val="000000"/>
                </a:solidFill>
                <a:latin typeface="Arial" panose="020B0604020202020204" pitchFamily="34" charset="0"/>
                <a:ea typeface="Arial" panose="020B0604020202020204" pitchFamily="34" charset="0"/>
                <a:cs typeface="Arial" panose="020B0604020202020204" pitchFamily="34" charset="0"/>
              </a:rPr>
              <a:t>26</a:t>
            </a: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a:t>
            </a:r>
            <a:r>
              <a:rPr lang="es-ES" sz="1100" dirty="0">
                <a:solidFill>
                  <a:srgbClr val="000000"/>
                </a:solidFill>
                <a:latin typeface="Arial" panose="020B0604020202020204" pitchFamily="34" charset="0"/>
                <a:ea typeface="Arial" panose="020B0604020202020204" pitchFamily="34" charset="0"/>
                <a:cs typeface="Arial" panose="020B0604020202020204" pitchFamily="34" charset="0"/>
              </a:rPr>
              <a:t>o</a:t>
            </a:r>
            <a:r>
              <a:rPr lang="es-ES" sz="1100" dirty="0">
                <a:solidFill>
                  <a:srgbClr val="000000"/>
                </a:solidFill>
                <a:effectLst/>
                <a:latin typeface="Arial" panose="020B0604020202020204" pitchFamily="34" charset="0"/>
                <a:ea typeface="Arial" panose="020B0604020202020204" pitchFamily="34" charset="0"/>
                <a:cs typeface="Arial" panose="020B0604020202020204" pitchFamily="34" charset="0"/>
              </a:rPr>
              <a:t>ctubre de 2025</a:t>
            </a:r>
            <a:endParaRPr lang="es-MX" sz="11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pic>
        <p:nvPicPr>
          <p:cNvPr id="5" name="Imagen 4">
            <a:extLst>
              <a:ext uri="{FF2B5EF4-FFF2-40B4-BE49-F238E27FC236}">
                <a16:creationId xmlns:a16="http://schemas.microsoft.com/office/drawing/2014/main" id="{D223F282-CDE8-0D20-88B9-0CB0D599A12D}"/>
              </a:ext>
            </a:extLst>
          </p:cNvPr>
          <p:cNvPicPr>
            <a:picLocks noChangeAspect="1"/>
          </p:cNvPicPr>
          <p:nvPr/>
        </p:nvPicPr>
        <p:blipFill>
          <a:blip r:embed="rId2">
            <a:extLst>
              <a:ext uri="{28A0092B-C50C-407E-A947-70E740481C1C}">
                <a14:useLocalDpi xmlns:a14="http://schemas.microsoft.com/office/drawing/2010/main" val="0"/>
              </a:ext>
            </a:extLst>
          </a:blip>
          <a:srcRect r="37787" b="6206"/>
          <a:stretch/>
        </p:blipFill>
        <p:spPr>
          <a:xfrm>
            <a:off x="2111818" y="305019"/>
            <a:ext cx="2599700" cy="580650"/>
          </a:xfrm>
          <a:prstGeom prst="rect">
            <a:avLst/>
          </a:prstGeom>
        </p:spPr>
      </p:pic>
      <p:pic>
        <p:nvPicPr>
          <p:cNvPr id="6" name="Imagen 5">
            <a:extLst>
              <a:ext uri="{FF2B5EF4-FFF2-40B4-BE49-F238E27FC236}">
                <a16:creationId xmlns:a16="http://schemas.microsoft.com/office/drawing/2014/main" id="{D3974FB1-5420-F3C3-04FA-66E00AB57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1317" y="305019"/>
            <a:ext cx="1685296" cy="687876"/>
          </a:xfrm>
          <a:prstGeom prst="rect">
            <a:avLst/>
          </a:prstGeom>
        </p:spPr>
      </p:pic>
      <p:pic>
        <p:nvPicPr>
          <p:cNvPr id="7" name="Imagen 6">
            <a:extLst>
              <a:ext uri="{FF2B5EF4-FFF2-40B4-BE49-F238E27FC236}">
                <a16:creationId xmlns:a16="http://schemas.microsoft.com/office/drawing/2014/main" id="{190EFE49-31B1-9D37-3760-AA79BBED6054}"/>
              </a:ext>
            </a:extLst>
          </p:cNvPr>
          <p:cNvPicPr>
            <a:picLocks noChangeAspect="1"/>
          </p:cNvPicPr>
          <p:nvPr/>
        </p:nvPicPr>
        <p:blipFill>
          <a:blip r:embed="rId2">
            <a:extLst>
              <a:ext uri="{28A0092B-C50C-407E-A947-70E740481C1C}">
                <a14:useLocalDpi xmlns:a14="http://schemas.microsoft.com/office/drawing/2010/main" val="0"/>
              </a:ext>
            </a:extLst>
          </a:blip>
          <a:srcRect l="65474" t="-1" b="-40163"/>
          <a:stretch/>
        </p:blipFill>
        <p:spPr>
          <a:xfrm>
            <a:off x="5219621" y="305019"/>
            <a:ext cx="1752758" cy="1054163"/>
          </a:xfrm>
          <a:prstGeom prst="rect">
            <a:avLst/>
          </a:prstGeom>
        </p:spPr>
      </p:pic>
    </p:spTree>
    <p:extLst>
      <p:ext uri="{BB962C8B-B14F-4D97-AF65-F5344CB8AC3E}">
        <p14:creationId xmlns:p14="http://schemas.microsoft.com/office/powerpoint/2010/main" val="3030372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EFC4BFE-51F8-DB45-4F06-E8166FBF22C6}"/>
              </a:ext>
            </a:extLst>
          </p:cNvPr>
          <p:cNvSpPr txBox="1"/>
          <p:nvPr/>
        </p:nvSpPr>
        <p:spPr>
          <a:xfrm>
            <a:off x="2362201" y="691679"/>
            <a:ext cx="9305144" cy="4709494"/>
          </a:xfrm>
          <a:prstGeom prst="rect">
            <a:avLst/>
          </a:prstGeom>
          <a:noFill/>
        </p:spPr>
        <p:txBody>
          <a:bodyPr wrap="square">
            <a:spAutoFit/>
          </a:bodyPr>
          <a:lstStyle/>
          <a:p>
            <a:pPr algn="just">
              <a:lnSpc>
                <a:spcPct val="150000"/>
              </a:lnSpc>
              <a:spcAft>
                <a:spcPts val="800"/>
              </a:spcAft>
              <a:buNone/>
            </a:pPr>
            <a:r>
              <a:rPr lang="es-ES" b="1" dirty="0">
                <a:effectLst/>
                <a:latin typeface="Arial" panose="020B0604020202020204" pitchFamily="34" charset="0"/>
                <a:ea typeface="Aptos" panose="020B0004020202020204" pitchFamily="34" charset="0"/>
                <a:cs typeface="Arial" panose="020B0604020202020204" pitchFamily="34" charset="0"/>
              </a:rPr>
              <a:t>Índice</a:t>
            </a:r>
            <a:endParaRPr lang="es-MX" b="1"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Introducción………………………………………………………………………………4</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Justificación………………………………………………………………………………5</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Codificación de la aplicación Punto de venta con fechas de caducidad…………..6-14</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Herramientas utilizadas………………………………………………………………….6</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Estructura del proyecto…………………………………………………………………..7</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Configuración de </a:t>
            </a:r>
            <a:r>
              <a:rPr lang="es-ES" sz="1600" dirty="0" err="1">
                <a:effectLst/>
                <a:latin typeface="Arial" panose="020B0604020202020204" pitchFamily="34" charset="0"/>
                <a:ea typeface="Aptos" panose="020B0004020202020204" pitchFamily="34" charset="0"/>
                <a:cs typeface="Arial" panose="020B0604020202020204" pitchFamily="34" charset="0"/>
              </a:rPr>
              <a:t>HeidiSQL</a:t>
            </a:r>
            <a:r>
              <a:rPr lang="es-ES" sz="1600" dirty="0">
                <a:effectLst/>
                <a:latin typeface="Arial" panose="020B0604020202020204" pitchFamily="34" charset="0"/>
                <a:ea typeface="Aptos" panose="020B0004020202020204" pitchFamily="34" charset="0"/>
                <a:cs typeface="Arial" panose="020B0604020202020204" pitchFamily="34" charset="0"/>
              </a:rPr>
              <a:t>………………………………………………………….…..8</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Proyecto en </a:t>
            </a:r>
            <a:r>
              <a:rPr lang="es-ES" sz="1600" dirty="0" err="1">
                <a:effectLst/>
                <a:latin typeface="Arial" panose="020B0604020202020204" pitchFamily="34" charset="0"/>
                <a:ea typeface="Aptos" panose="020B0004020202020204" pitchFamily="34" charset="0"/>
                <a:cs typeface="Arial" panose="020B0604020202020204" pitchFamily="34" charset="0"/>
              </a:rPr>
              <a:t>Intellij</a:t>
            </a:r>
            <a:r>
              <a:rPr lang="es-ES" sz="1600" dirty="0">
                <a:effectLst/>
                <a:latin typeface="Arial" panose="020B0604020202020204" pitchFamily="34" charset="0"/>
                <a:ea typeface="Aptos" panose="020B0004020202020204" pitchFamily="34" charset="0"/>
                <a:cs typeface="Arial" panose="020B0604020202020204" pitchFamily="34" charset="0"/>
              </a:rPr>
              <a:t> </a:t>
            </a:r>
            <a:r>
              <a:rPr lang="es-ES" sz="1600" dirty="0" err="1">
                <a:effectLst/>
                <a:latin typeface="Arial" panose="020B0604020202020204" pitchFamily="34" charset="0"/>
                <a:ea typeface="Aptos" panose="020B0004020202020204" pitchFamily="34" charset="0"/>
                <a:cs typeface="Arial" panose="020B0604020202020204" pitchFamily="34" charset="0"/>
              </a:rPr>
              <a:t>Community</a:t>
            </a:r>
            <a:r>
              <a:rPr lang="es-ES" sz="1600" dirty="0">
                <a:effectLst/>
                <a:latin typeface="Arial" panose="020B0604020202020204" pitchFamily="34" charset="0"/>
                <a:ea typeface="Aptos" panose="020B0004020202020204" pitchFamily="34" charset="0"/>
                <a:cs typeface="Arial" panose="020B0604020202020204" pitchFamily="34" charset="0"/>
              </a:rPr>
              <a:t>………………………………………………………….9</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Clase principal……………………………………………………………………………10</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err="1">
                <a:effectLst/>
                <a:latin typeface="Arial" panose="020B0604020202020204" pitchFamily="34" charset="0"/>
                <a:ea typeface="Aptos" panose="020B0004020202020204" pitchFamily="34" charset="0"/>
                <a:cs typeface="Arial" panose="020B0604020202020204" pitchFamily="34" charset="0"/>
              </a:rPr>
              <a:t>Controller</a:t>
            </a:r>
            <a:r>
              <a:rPr lang="es-ES" sz="1600" dirty="0">
                <a:effectLst/>
                <a:latin typeface="Arial" panose="020B0604020202020204" pitchFamily="34" charset="0"/>
                <a:ea typeface="Aptos" panose="020B0004020202020204" pitchFamily="34" charset="0"/>
                <a:cs typeface="Arial" panose="020B0604020202020204" pitchFamily="34" charset="0"/>
              </a:rPr>
              <a:t>………………………………………………………………………………….11</a:t>
            </a: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sp>
        <p:nvSpPr>
          <p:cNvPr id="6" name="Marcador de número de diapositiva 5">
            <a:extLst>
              <a:ext uri="{FF2B5EF4-FFF2-40B4-BE49-F238E27FC236}">
                <a16:creationId xmlns:a16="http://schemas.microsoft.com/office/drawing/2014/main" id="{F808F963-E329-5B3C-9852-95F128646D08}"/>
              </a:ext>
            </a:extLst>
          </p:cNvPr>
          <p:cNvSpPr>
            <a:spLocks noGrp="1"/>
          </p:cNvSpPr>
          <p:nvPr>
            <p:ph type="sldNum" sz="quarter" idx="12"/>
          </p:nvPr>
        </p:nvSpPr>
        <p:spPr/>
        <p:txBody>
          <a:bodyPr/>
          <a:lstStyle/>
          <a:p>
            <a:r>
              <a:rPr lang="es-MX" dirty="0"/>
              <a:t>2</a:t>
            </a:r>
          </a:p>
        </p:txBody>
      </p:sp>
    </p:spTree>
    <p:extLst>
      <p:ext uri="{BB962C8B-B14F-4D97-AF65-F5344CB8AC3E}">
        <p14:creationId xmlns:p14="http://schemas.microsoft.com/office/powerpoint/2010/main" val="2547640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AC907E7-2D08-8BBB-C887-31851B34535A}"/>
              </a:ext>
            </a:extLst>
          </p:cNvPr>
          <p:cNvSpPr txBox="1"/>
          <p:nvPr/>
        </p:nvSpPr>
        <p:spPr>
          <a:xfrm>
            <a:off x="2218544" y="794479"/>
            <a:ext cx="8439462" cy="4616648"/>
          </a:xfrm>
          <a:prstGeom prst="rect">
            <a:avLst/>
          </a:prstGeom>
          <a:noFill/>
        </p:spPr>
        <p:txBody>
          <a:bodyPr wrap="square" rtlCol="0">
            <a:spAutoFit/>
          </a:bodyPr>
          <a:lstStyle/>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Recursos – View…………………………………………………………………………12</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err="1">
                <a:effectLst/>
                <a:latin typeface="Arial" panose="020B0604020202020204" pitchFamily="34" charset="0"/>
                <a:ea typeface="Aptos" panose="020B0004020202020204" pitchFamily="34" charset="0"/>
                <a:cs typeface="Arial" panose="020B0604020202020204" pitchFamily="34" charset="0"/>
              </a:rPr>
              <a:t>Model</a:t>
            </a:r>
            <a:r>
              <a:rPr lang="es-ES" sz="1600" dirty="0">
                <a:effectLst/>
                <a:latin typeface="Arial" panose="020B0604020202020204" pitchFamily="34" charset="0"/>
                <a:ea typeface="Aptos" panose="020B0004020202020204" pitchFamily="34" charset="0"/>
                <a:cs typeface="Arial" panose="020B0604020202020204" pitchFamily="34" charset="0"/>
              </a:rPr>
              <a:t>………………………………………………………………………………………13</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ES" sz="1600" dirty="0" err="1">
                <a:effectLst/>
                <a:latin typeface="Arial" panose="020B0604020202020204" pitchFamily="34" charset="0"/>
                <a:ea typeface="Aptos" panose="020B0004020202020204" pitchFamily="34" charset="0"/>
                <a:cs typeface="Arial" panose="020B0604020202020204" pitchFamily="34" charset="0"/>
              </a:rPr>
              <a:t>Repository</a:t>
            </a:r>
            <a:r>
              <a:rPr lang="es-ES" sz="1600" dirty="0">
                <a:effectLst/>
                <a:latin typeface="Arial" panose="020B0604020202020204" pitchFamily="34" charset="0"/>
                <a:ea typeface="Aptos" panose="020B0004020202020204" pitchFamily="34" charset="0"/>
                <a:cs typeface="Arial" panose="020B0604020202020204" pitchFamily="34" charset="0"/>
              </a:rPr>
              <a:t>…………………………………………………………………………………14</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Pruebas…</a:t>
            </a:r>
            <a:r>
              <a:rPr lang="es-ES" sz="1600" dirty="0">
                <a:effectLst/>
                <a:latin typeface="Arial" panose="020B0604020202020204" pitchFamily="34" charset="0"/>
                <a:ea typeface="Aptos" panose="020B0004020202020204" pitchFamily="34" charset="0"/>
                <a:cs typeface="Arial" panose="020B0604020202020204" pitchFamily="34" charset="0"/>
              </a:rPr>
              <a:t>…………………………………………………………………………………15-16</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Presentación de la aplicación…</a:t>
            </a:r>
            <a:r>
              <a:rPr lang="es-ES" sz="1600" dirty="0">
                <a:effectLst/>
                <a:latin typeface="Arial" panose="020B0604020202020204" pitchFamily="34" charset="0"/>
                <a:ea typeface="Aptos" panose="020B0004020202020204" pitchFamily="34" charset="0"/>
                <a:cs typeface="Arial" panose="020B0604020202020204" pitchFamily="34" charset="0"/>
              </a:rPr>
              <a:t>…………………………………………………………17</a:t>
            </a: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Capacitación…</a:t>
            </a:r>
            <a:r>
              <a:rPr lang="es-ES" sz="1600" dirty="0">
                <a:effectLst/>
                <a:latin typeface="Arial" panose="020B0604020202020204" pitchFamily="34" charset="0"/>
                <a:ea typeface="Aptos" panose="020B0004020202020204" pitchFamily="34" charset="0"/>
                <a:cs typeface="Arial" panose="020B0604020202020204" pitchFamily="34" charset="0"/>
              </a:rPr>
              <a:t>……………………………………………………………………………18</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Conclusión</a:t>
            </a:r>
            <a:r>
              <a:rPr lang="es-ES" sz="1600" dirty="0">
                <a:effectLst/>
                <a:latin typeface="Arial" panose="020B0604020202020204" pitchFamily="34" charset="0"/>
                <a:ea typeface="Aptos" panose="020B0004020202020204" pitchFamily="34" charset="0"/>
                <a:cs typeface="Arial" panose="020B0604020202020204" pitchFamily="34" charset="0"/>
              </a:rPr>
              <a:t>…………………………………………………………………………………19</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ES" sz="1600" dirty="0">
                <a:effectLst/>
                <a:latin typeface="Arial" panose="020B0604020202020204" pitchFamily="34" charset="0"/>
                <a:ea typeface="Aptos" panose="020B0004020202020204" pitchFamily="34" charset="0"/>
                <a:cs typeface="Arial" panose="020B0604020202020204" pitchFamily="34" charset="0"/>
              </a:rPr>
              <a:t>Fuentes de información……………………………………………………………….…20</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sp>
        <p:nvSpPr>
          <p:cNvPr id="5" name="Marcador de número de diapositiva 4">
            <a:extLst>
              <a:ext uri="{FF2B5EF4-FFF2-40B4-BE49-F238E27FC236}">
                <a16:creationId xmlns:a16="http://schemas.microsoft.com/office/drawing/2014/main" id="{C6FEA0CE-8741-24AC-DBF0-479885EDA38A}"/>
              </a:ext>
            </a:extLst>
          </p:cNvPr>
          <p:cNvSpPr>
            <a:spLocks noGrp="1"/>
          </p:cNvSpPr>
          <p:nvPr>
            <p:ph type="sldNum" sz="quarter" idx="12"/>
          </p:nvPr>
        </p:nvSpPr>
        <p:spPr/>
        <p:txBody>
          <a:bodyPr/>
          <a:lstStyle/>
          <a:p>
            <a:fld id="{69FA31F3-3ACA-4F8A-A5BF-5A97288E8B98}" type="slidenum">
              <a:rPr lang="es-MX" smtClean="0"/>
              <a:t>3</a:t>
            </a:fld>
            <a:endParaRPr lang="es-MX"/>
          </a:p>
        </p:txBody>
      </p:sp>
    </p:spTree>
    <p:extLst>
      <p:ext uri="{BB962C8B-B14F-4D97-AF65-F5344CB8AC3E}">
        <p14:creationId xmlns:p14="http://schemas.microsoft.com/office/powerpoint/2010/main" val="3085157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3C5F5BA-5973-991B-A77B-E5FB51FDEB11}"/>
              </a:ext>
            </a:extLst>
          </p:cNvPr>
          <p:cNvSpPr>
            <a:spLocks noGrp="1"/>
          </p:cNvSpPr>
          <p:nvPr>
            <p:ph type="sldNum" sz="quarter" idx="12"/>
          </p:nvPr>
        </p:nvSpPr>
        <p:spPr/>
        <p:txBody>
          <a:bodyPr/>
          <a:lstStyle/>
          <a:p>
            <a:fld id="{69FA31F3-3ACA-4F8A-A5BF-5A97288E8B98}" type="slidenum">
              <a:rPr lang="es-MX" smtClean="0"/>
              <a:t>4</a:t>
            </a:fld>
            <a:endParaRPr lang="es-MX"/>
          </a:p>
        </p:txBody>
      </p:sp>
      <p:sp>
        <p:nvSpPr>
          <p:cNvPr id="5" name="CuadroTexto 4">
            <a:extLst>
              <a:ext uri="{FF2B5EF4-FFF2-40B4-BE49-F238E27FC236}">
                <a16:creationId xmlns:a16="http://schemas.microsoft.com/office/drawing/2014/main" id="{4014AC32-3E4B-8116-153E-484A7D30A17E}"/>
              </a:ext>
            </a:extLst>
          </p:cNvPr>
          <p:cNvSpPr txBox="1"/>
          <p:nvPr/>
        </p:nvSpPr>
        <p:spPr>
          <a:xfrm>
            <a:off x="2322227" y="974361"/>
            <a:ext cx="7659973" cy="3677930"/>
          </a:xfrm>
          <a:prstGeom prst="rect">
            <a:avLst/>
          </a:prstGeom>
          <a:noFill/>
        </p:spPr>
        <p:txBody>
          <a:bodyPr wrap="square" rtlCol="0">
            <a:spAutoFit/>
          </a:bodyPr>
          <a:lstStyle/>
          <a:p>
            <a:pPr algn="just">
              <a:lnSpc>
                <a:spcPct val="150000"/>
              </a:lnSpc>
              <a:spcAft>
                <a:spcPts val="800"/>
              </a:spcAft>
              <a:buNone/>
            </a:pPr>
            <a:r>
              <a:rPr lang="es-ES" b="1" dirty="0">
                <a:effectLst/>
                <a:latin typeface="Arial" panose="020B0604020202020204" pitchFamily="34" charset="0"/>
                <a:ea typeface="Aptos" panose="020B0004020202020204" pitchFamily="34" charset="0"/>
                <a:cs typeface="Arial" panose="020B0604020202020204" pitchFamily="34" charset="0"/>
              </a:rPr>
              <a:t>Introducción</a:t>
            </a:r>
            <a:endParaRPr lang="es-MX"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Este documento se presenta como la segunda evidencia de la unidad 3 de la asignatura Ingeniería de software. Siguiendo la problemática planteada al inicio de la asignatura se elaboró el código correspondiente para la solución del problema</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ES" sz="1600" dirty="0">
                <a:effectLst/>
                <a:latin typeface="Arial" panose="020B0604020202020204" pitchFamily="34" charset="0"/>
                <a:ea typeface="Aptos" panose="020B0004020202020204" pitchFamily="34" charset="0"/>
                <a:cs typeface="Arial" panose="020B0604020202020204" pitchFamily="34" charset="0"/>
              </a:rPr>
              <a:t>Este informe se centra en el proceso de creación de una aplicación de punto de venta utilizando el entorno de desarrollo IntelliJ, con un enfoque particular en la gestión de productos con fechas de caducidad. Mas adelante se presenta el procedimiento seguido y la explicación del código.</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spTree>
    <p:extLst>
      <p:ext uri="{BB962C8B-B14F-4D97-AF65-F5344CB8AC3E}">
        <p14:creationId xmlns:p14="http://schemas.microsoft.com/office/powerpoint/2010/main" val="123511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9E07F39-B5C2-90CC-C516-A3D6146D51D2}"/>
              </a:ext>
            </a:extLst>
          </p:cNvPr>
          <p:cNvSpPr>
            <a:spLocks noGrp="1"/>
          </p:cNvSpPr>
          <p:nvPr>
            <p:ph type="sldNum" sz="quarter" idx="12"/>
          </p:nvPr>
        </p:nvSpPr>
        <p:spPr/>
        <p:txBody>
          <a:bodyPr/>
          <a:lstStyle/>
          <a:p>
            <a:fld id="{69FA31F3-3ACA-4F8A-A5BF-5A97288E8B98}" type="slidenum">
              <a:rPr lang="es-MX" smtClean="0"/>
              <a:t>5</a:t>
            </a:fld>
            <a:endParaRPr lang="es-MX"/>
          </a:p>
        </p:txBody>
      </p:sp>
      <p:sp>
        <p:nvSpPr>
          <p:cNvPr id="5" name="CuadroTexto 4">
            <a:extLst>
              <a:ext uri="{FF2B5EF4-FFF2-40B4-BE49-F238E27FC236}">
                <a16:creationId xmlns:a16="http://schemas.microsoft.com/office/drawing/2014/main" id="{CA89EE0B-7640-64DE-F66D-1F4918A4FFE4}"/>
              </a:ext>
            </a:extLst>
          </p:cNvPr>
          <p:cNvSpPr txBox="1"/>
          <p:nvPr/>
        </p:nvSpPr>
        <p:spPr>
          <a:xfrm>
            <a:off x="2323475" y="921895"/>
            <a:ext cx="8004748" cy="4047262"/>
          </a:xfrm>
          <a:prstGeom prst="rect">
            <a:avLst/>
          </a:prstGeom>
          <a:noFill/>
        </p:spPr>
        <p:txBody>
          <a:bodyPr wrap="square" rtlCol="0">
            <a:spAutoFit/>
          </a:bodyPr>
          <a:lstStyle/>
          <a:p>
            <a:pPr algn="just">
              <a:lnSpc>
                <a:spcPct val="150000"/>
              </a:lnSpc>
              <a:spcAft>
                <a:spcPts val="800"/>
              </a:spcAft>
              <a:buNone/>
            </a:pPr>
            <a:r>
              <a:rPr lang="es-ES" b="1" dirty="0">
                <a:effectLst/>
                <a:latin typeface="Arial" panose="020B0604020202020204" pitchFamily="34" charset="0"/>
                <a:ea typeface="Aptos" panose="020B0004020202020204" pitchFamily="34" charset="0"/>
                <a:cs typeface="Arial" panose="020B0604020202020204" pitchFamily="34" charset="0"/>
              </a:rPr>
              <a:t>Justificación</a:t>
            </a:r>
            <a:endParaRPr lang="es-MX"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La elección de desarrollar una aplicación de punto de venta con características específicas, como la gestión de fechas de caducidad, mejorar la eficiencia operativa y también proporcionar a las comerciantes herramientas que les permitan tomar decisiones informadas sobre el manejo de su inventario.</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ES" sz="1600" dirty="0">
                <a:effectLst/>
                <a:latin typeface="Arial" panose="020B0604020202020204" pitchFamily="34" charset="0"/>
                <a:ea typeface="Aptos" panose="020B0004020202020204" pitchFamily="34" charset="0"/>
                <a:cs typeface="Arial" panose="020B0604020202020204" pitchFamily="34" charset="0"/>
              </a:rPr>
              <a:t> El uso de IntelliJ como plataforma de desarrollo ofrece un entorno versátil que facilita la creación de aplicaciones complejas, con el apoyo de otras aplicaciones que optimizan el desarrollo se continuó con la elaboración de código en este entorno, el cuál se mostrará más adelante.</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spTree>
    <p:extLst>
      <p:ext uri="{BB962C8B-B14F-4D97-AF65-F5344CB8AC3E}">
        <p14:creationId xmlns:p14="http://schemas.microsoft.com/office/powerpoint/2010/main" val="4226504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D8358480-673E-735D-1E41-D822D07C739C}"/>
              </a:ext>
            </a:extLst>
          </p:cNvPr>
          <p:cNvSpPr>
            <a:spLocks noGrp="1"/>
          </p:cNvSpPr>
          <p:nvPr>
            <p:ph type="sldNum" sz="quarter" idx="12"/>
          </p:nvPr>
        </p:nvSpPr>
        <p:spPr/>
        <p:txBody>
          <a:bodyPr/>
          <a:lstStyle/>
          <a:p>
            <a:r>
              <a:rPr lang="es-MX" dirty="0"/>
              <a:t>6</a:t>
            </a:r>
          </a:p>
        </p:txBody>
      </p:sp>
      <p:sp>
        <p:nvSpPr>
          <p:cNvPr id="5" name="CuadroTexto 4">
            <a:extLst>
              <a:ext uri="{FF2B5EF4-FFF2-40B4-BE49-F238E27FC236}">
                <a16:creationId xmlns:a16="http://schemas.microsoft.com/office/drawing/2014/main" id="{181553D1-AD99-1274-12E5-857A248CF5FE}"/>
              </a:ext>
            </a:extLst>
          </p:cNvPr>
          <p:cNvSpPr txBox="1"/>
          <p:nvPr/>
        </p:nvSpPr>
        <p:spPr>
          <a:xfrm>
            <a:off x="2108616" y="374754"/>
            <a:ext cx="7974768" cy="646331"/>
          </a:xfrm>
          <a:prstGeom prst="rect">
            <a:avLst/>
          </a:prstGeom>
          <a:noFill/>
        </p:spPr>
        <p:txBody>
          <a:bodyPr wrap="square" rtlCol="0">
            <a:spAutoFit/>
          </a:bodyPr>
          <a:lstStyle/>
          <a:p>
            <a:pPr algn="ctr"/>
            <a:r>
              <a:rPr lang="es-ES" sz="1800" b="1" dirty="0">
                <a:effectLst/>
                <a:latin typeface="Arial" panose="020B0604020202020204" pitchFamily="34" charset="0"/>
                <a:ea typeface="Aptos" panose="020B0004020202020204" pitchFamily="34" charset="0"/>
                <a:cs typeface="Arial" panose="020B0604020202020204" pitchFamily="34" charset="0"/>
              </a:rPr>
              <a:t>Codificación de la aplicación Punto de venta con fechas de caducidad</a:t>
            </a:r>
            <a:endParaRPr lang="es-MX" sz="18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sp>
        <p:nvSpPr>
          <p:cNvPr id="6" name="CuadroTexto 5">
            <a:extLst>
              <a:ext uri="{FF2B5EF4-FFF2-40B4-BE49-F238E27FC236}">
                <a16:creationId xmlns:a16="http://schemas.microsoft.com/office/drawing/2014/main" id="{E03DC861-9262-3423-265C-ADB225D20C8C}"/>
              </a:ext>
            </a:extLst>
          </p:cNvPr>
          <p:cNvSpPr txBox="1"/>
          <p:nvPr/>
        </p:nvSpPr>
        <p:spPr>
          <a:xfrm>
            <a:off x="1543987" y="1428452"/>
            <a:ext cx="9914744" cy="4001095"/>
          </a:xfrm>
          <a:prstGeom prst="rect">
            <a:avLst/>
          </a:prstGeom>
          <a:noFill/>
        </p:spPr>
        <p:txBody>
          <a:bodyPr wrap="square" rtlCol="0">
            <a:spAutoFit/>
          </a:bodyPr>
          <a:lstStyle/>
          <a:p>
            <a:pPr algn="just">
              <a:lnSpc>
                <a:spcPct val="150000"/>
              </a:lnSpc>
              <a:spcAft>
                <a:spcPts val="800"/>
              </a:spcAft>
              <a:buNone/>
            </a:pPr>
            <a:r>
              <a:rPr lang="es-ES" sz="1600" b="1" dirty="0">
                <a:effectLst/>
                <a:latin typeface="Arial" panose="020B0604020202020204" pitchFamily="34" charset="0"/>
                <a:ea typeface="Aptos" panose="020B0004020202020204" pitchFamily="34" charset="0"/>
                <a:cs typeface="Times New Roman" panose="02020603050405020304" pitchFamily="18" charset="0"/>
              </a:rPr>
              <a:t>Herramientas utilizadas</a:t>
            </a:r>
            <a:endParaRPr lang="es-MX" sz="16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Times New Roman" panose="02020603050405020304" pitchFamily="18" charset="0"/>
              </a:rPr>
              <a:t>Las herramientas utilizadas para el desarrollo de la aplicación requerida fueron las siguientes:</a:t>
            </a:r>
            <a:endParaRPr lang="es-MX" sz="1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s-ES" sz="1600" dirty="0">
                <a:effectLst/>
                <a:latin typeface="Arial" panose="020B0604020202020204" pitchFamily="34" charset="0"/>
                <a:ea typeface="Aptos" panose="020B0004020202020204" pitchFamily="34" charset="0"/>
                <a:cs typeface="Times New Roman" panose="02020603050405020304" pitchFamily="18" charset="0"/>
              </a:rPr>
              <a:t>Spring </a:t>
            </a:r>
            <a:r>
              <a:rPr lang="es-ES" sz="1600" dirty="0" err="1">
                <a:effectLst/>
                <a:latin typeface="Arial" panose="020B0604020202020204" pitchFamily="34" charset="0"/>
                <a:ea typeface="Aptos" panose="020B0004020202020204" pitchFamily="34" charset="0"/>
                <a:cs typeface="Times New Roman" panose="02020603050405020304" pitchFamily="18" charset="0"/>
              </a:rPr>
              <a:t>Initializr</a:t>
            </a:r>
            <a:r>
              <a:rPr lang="es-ES" sz="1600" dirty="0">
                <a:effectLst/>
                <a:latin typeface="Arial" panose="020B0604020202020204" pitchFamily="34" charset="0"/>
                <a:ea typeface="Aptos" panose="020B0004020202020204" pitchFamily="34" charset="0"/>
                <a:cs typeface="Times New Roman" panose="02020603050405020304" pitchFamily="18" charset="0"/>
              </a:rPr>
              <a:t>: es una herramienta web que permite crear rápidamente la estructura básica de un proyecto Spring </a:t>
            </a:r>
            <a:r>
              <a:rPr lang="es-ES" sz="1600" dirty="0" err="1">
                <a:effectLst/>
                <a:latin typeface="Arial" panose="020B0604020202020204" pitchFamily="34" charset="0"/>
                <a:ea typeface="Aptos" panose="020B0004020202020204" pitchFamily="34" charset="0"/>
                <a:cs typeface="Times New Roman" panose="02020603050405020304" pitchFamily="18" charset="0"/>
              </a:rPr>
              <a:t>Boot</a:t>
            </a:r>
            <a:r>
              <a:rPr lang="es-ES" sz="1600" dirty="0">
                <a:effectLst/>
                <a:latin typeface="Arial" panose="020B0604020202020204" pitchFamily="34" charset="0"/>
                <a:ea typeface="Aptos" panose="020B0004020202020204" pitchFamily="34" charset="0"/>
                <a:cs typeface="Times New Roman" panose="02020603050405020304" pitchFamily="18" charset="0"/>
              </a:rPr>
              <a:t>.</a:t>
            </a:r>
            <a:endParaRPr lang="es-MX" sz="1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s-ES" sz="1600" dirty="0" err="1">
                <a:effectLst/>
                <a:latin typeface="Arial" panose="020B0604020202020204" pitchFamily="34" charset="0"/>
                <a:ea typeface="Aptos" panose="020B0004020202020204" pitchFamily="34" charset="0"/>
                <a:cs typeface="Times New Roman" panose="02020603050405020304" pitchFamily="18" charset="0"/>
              </a:rPr>
              <a:t>Scene</a:t>
            </a:r>
            <a:r>
              <a:rPr lang="es-ES" sz="1600" dirty="0">
                <a:effectLst/>
                <a:latin typeface="Arial" panose="020B0604020202020204" pitchFamily="34" charset="0"/>
                <a:ea typeface="Aptos" panose="020B0004020202020204" pitchFamily="34" charset="0"/>
                <a:cs typeface="Times New Roman" panose="02020603050405020304" pitchFamily="18" charset="0"/>
              </a:rPr>
              <a:t> </a:t>
            </a:r>
            <a:r>
              <a:rPr lang="es-ES" sz="1600" dirty="0" err="1">
                <a:effectLst/>
                <a:latin typeface="Arial" panose="020B0604020202020204" pitchFamily="34" charset="0"/>
                <a:ea typeface="Aptos" panose="020B0004020202020204" pitchFamily="34" charset="0"/>
                <a:cs typeface="Times New Roman" panose="02020603050405020304" pitchFamily="18" charset="0"/>
              </a:rPr>
              <a:t>Builder</a:t>
            </a:r>
            <a:r>
              <a:rPr lang="es-ES" sz="1600" dirty="0">
                <a:effectLst/>
                <a:latin typeface="Arial" panose="020B0604020202020204" pitchFamily="34" charset="0"/>
                <a:ea typeface="Aptos" panose="020B0004020202020204" pitchFamily="34" charset="0"/>
                <a:cs typeface="Times New Roman" panose="02020603050405020304" pitchFamily="18" charset="0"/>
              </a:rPr>
              <a:t>: es una herramienta de diseño visual para crear interfaces de usuario en aplicaciones </a:t>
            </a:r>
            <a:r>
              <a:rPr lang="es-ES" sz="1600" dirty="0" err="1">
                <a:effectLst/>
                <a:latin typeface="Arial" panose="020B0604020202020204" pitchFamily="34" charset="0"/>
                <a:ea typeface="Aptos" panose="020B0004020202020204" pitchFamily="34" charset="0"/>
                <a:cs typeface="Times New Roman" panose="02020603050405020304" pitchFamily="18" charset="0"/>
              </a:rPr>
              <a:t>JavaFX</a:t>
            </a:r>
            <a:r>
              <a:rPr lang="es-ES" sz="1600" dirty="0">
                <a:effectLst/>
                <a:latin typeface="Arial" panose="020B0604020202020204" pitchFamily="34" charset="0"/>
                <a:ea typeface="Aptos" panose="020B0004020202020204" pitchFamily="34" charset="0"/>
                <a:cs typeface="Times New Roman" panose="02020603050405020304" pitchFamily="18" charset="0"/>
              </a:rPr>
              <a:t>.</a:t>
            </a:r>
            <a:endParaRPr lang="es-MX" sz="1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s-ES" sz="1600" dirty="0">
                <a:effectLst/>
                <a:latin typeface="Arial" panose="020B0604020202020204" pitchFamily="34" charset="0"/>
                <a:ea typeface="Aptos" panose="020B0004020202020204" pitchFamily="34" charset="0"/>
                <a:cs typeface="Times New Roman" panose="02020603050405020304" pitchFamily="18" charset="0"/>
              </a:rPr>
              <a:t>IntelliJ IDEA: es un entorno de desarrollo integrado (IDE) ampliamente utilizado para el desarrollo de aplicaciones en Java y otros lenguajes de programación. </a:t>
            </a:r>
            <a:endParaRPr lang="es-MX" sz="1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s-ES" sz="1600" dirty="0">
                <a:effectLst/>
                <a:latin typeface="Arial" panose="020B0604020202020204" pitchFamily="34" charset="0"/>
                <a:ea typeface="Aptos" panose="020B0004020202020204" pitchFamily="34" charset="0"/>
                <a:cs typeface="Times New Roman" panose="02020603050405020304" pitchFamily="18" charset="0"/>
              </a:rPr>
              <a:t> </a:t>
            </a:r>
            <a:r>
              <a:rPr lang="es-ES" sz="1600" dirty="0" err="1">
                <a:effectLst/>
                <a:latin typeface="Arial" panose="020B0604020202020204" pitchFamily="34" charset="0"/>
                <a:ea typeface="Aptos" panose="020B0004020202020204" pitchFamily="34" charset="0"/>
                <a:cs typeface="Times New Roman" panose="02020603050405020304" pitchFamily="18" charset="0"/>
              </a:rPr>
              <a:t>HeidiSQL</a:t>
            </a:r>
            <a:r>
              <a:rPr lang="es-ES" sz="1600" dirty="0">
                <a:effectLst/>
                <a:latin typeface="Arial" panose="020B0604020202020204" pitchFamily="34" charset="0"/>
                <a:ea typeface="Aptos" panose="020B0004020202020204" pitchFamily="34" charset="0"/>
                <a:cs typeface="Times New Roman" panose="02020603050405020304" pitchFamily="18" charset="0"/>
              </a:rPr>
              <a:t>: permite conectar y administrar sus bases de datos de manera intuitiva.</a:t>
            </a:r>
            <a:endParaRPr lang="es-MX" sz="1600" dirty="0">
              <a:effectLst/>
              <a:latin typeface="Aptos" panose="020B0004020202020204" pitchFamily="34" charset="0"/>
              <a:ea typeface="Aptos" panose="020B0004020202020204" pitchFamily="34" charset="0"/>
              <a:cs typeface="Times New Roman" panose="02020603050405020304" pitchFamily="18" charset="0"/>
            </a:endParaRPr>
          </a:p>
          <a:p>
            <a:endParaRPr lang="es-MX" dirty="0"/>
          </a:p>
        </p:txBody>
      </p:sp>
    </p:spTree>
    <p:extLst>
      <p:ext uri="{BB962C8B-B14F-4D97-AF65-F5344CB8AC3E}">
        <p14:creationId xmlns:p14="http://schemas.microsoft.com/office/powerpoint/2010/main" val="2546185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C0CAB7-A7AB-E7D0-DA7A-2B70668874C4}"/>
              </a:ext>
            </a:extLst>
          </p:cNvPr>
          <p:cNvSpPr>
            <a:spLocks noGrp="1"/>
          </p:cNvSpPr>
          <p:nvPr>
            <p:ph type="sldNum" sz="quarter" idx="12"/>
          </p:nvPr>
        </p:nvSpPr>
        <p:spPr/>
        <p:txBody>
          <a:bodyPr/>
          <a:lstStyle/>
          <a:p>
            <a:fld id="{69FA31F3-3ACA-4F8A-A5BF-5A97288E8B98}" type="slidenum">
              <a:rPr lang="es-MX" smtClean="0"/>
              <a:t>7</a:t>
            </a:fld>
            <a:endParaRPr lang="es-MX"/>
          </a:p>
        </p:txBody>
      </p:sp>
      <p:sp>
        <p:nvSpPr>
          <p:cNvPr id="5" name="CuadroTexto 4">
            <a:extLst>
              <a:ext uri="{FF2B5EF4-FFF2-40B4-BE49-F238E27FC236}">
                <a16:creationId xmlns:a16="http://schemas.microsoft.com/office/drawing/2014/main" id="{2EF6FEEA-4F86-148D-9FDA-4C1C4A7BD869}"/>
              </a:ext>
            </a:extLst>
          </p:cNvPr>
          <p:cNvSpPr txBox="1"/>
          <p:nvPr/>
        </p:nvSpPr>
        <p:spPr>
          <a:xfrm>
            <a:off x="1681396" y="896331"/>
            <a:ext cx="9006591" cy="4001095"/>
          </a:xfrm>
          <a:prstGeom prst="rect">
            <a:avLst/>
          </a:prstGeom>
          <a:noFill/>
        </p:spPr>
        <p:txBody>
          <a:bodyPr wrap="square" rtlCol="0">
            <a:spAutoFit/>
          </a:bodyPr>
          <a:lstStyle/>
          <a:p>
            <a:pPr algn="just">
              <a:lnSpc>
                <a:spcPct val="150000"/>
              </a:lnSpc>
              <a:spcAft>
                <a:spcPts val="800"/>
              </a:spcAft>
              <a:buNone/>
            </a:pPr>
            <a:r>
              <a:rPr lang="es-ES" sz="1600" b="1" dirty="0">
                <a:effectLst/>
                <a:latin typeface="Arial" panose="020B0604020202020204" pitchFamily="34" charset="0"/>
                <a:ea typeface="Aptos" panose="020B0004020202020204" pitchFamily="34" charset="0"/>
                <a:cs typeface="Arial" panose="020B0604020202020204" pitchFamily="34" charset="0"/>
              </a:rPr>
              <a:t>Estructura del proyecto</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ES" sz="1600" dirty="0">
                <a:effectLst/>
                <a:latin typeface="Arial" panose="020B0604020202020204" pitchFamily="34" charset="0"/>
                <a:ea typeface="Aptos" panose="020B0004020202020204" pitchFamily="34" charset="0"/>
                <a:cs typeface="Arial" panose="020B0604020202020204" pitchFamily="34" charset="0"/>
              </a:rPr>
              <a:t>Después de descargar e instalar las aplicaciones necesarias se comenzó con el proceso de codificación, para esto lo primero fue descargar la estructura del proyecto:</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Se consultó Spring </a:t>
            </a:r>
            <a:r>
              <a:rPr lang="es-ES" sz="1600" dirty="0" err="1">
                <a:effectLst/>
                <a:latin typeface="Arial" panose="020B0604020202020204" pitchFamily="34" charset="0"/>
                <a:ea typeface="Aptos" panose="020B0004020202020204" pitchFamily="34" charset="0"/>
                <a:cs typeface="Arial" panose="020B0604020202020204" pitchFamily="34" charset="0"/>
              </a:rPr>
              <a:t>Initializr</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En la parte superior se eligió Maven Project.</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Se seleccionó la versión de Spring </a:t>
            </a:r>
            <a:r>
              <a:rPr lang="es-ES" sz="1600" dirty="0" err="1">
                <a:effectLst/>
                <a:latin typeface="Arial" panose="020B0604020202020204" pitchFamily="34" charset="0"/>
                <a:ea typeface="Aptos" panose="020B0004020202020204" pitchFamily="34" charset="0"/>
                <a:cs typeface="Arial" panose="020B0604020202020204" pitchFamily="34" charset="0"/>
              </a:rPr>
              <a:t>Boot</a:t>
            </a:r>
            <a:r>
              <a:rPr lang="es-ES" sz="1600" dirty="0">
                <a:effectLst/>
                <a:latin typeface="Arial" panose="020B0604020202020204" pitchFamily="34" charset="0"/>
                <a:ea typeface="Aptos" panose="020B0004020202020204" pitchFamily="34" charset="0"/>
                <a:cs typeface="Arial" panose="020B0604020202020204" pitchFamily="34" charset="0"/>
              </a:rPr>
              <a:t> que se utilizaría.</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Configuración de los metadatos nombrándolos de acuerdo con el proyecto.</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Las dependencias descargadas fueron: </a:t>
            </a:r>
            <a:r>
              <a:rPr lang="es-ES" sz="1600" dirty="0" err="1">
                <a:effectLst/>
                <a:latin typeface="Arial" panose="020B0604020202020204" pitchFamily="34" charset="0"/>
                <a:ea typeface="Aptos" panose="020B0004020202020204" pitchFamily="34" charset="0"/>
                <a:cs typeface="Arial" panose="020B0604020202020204" pitchFamily="34" charset="0"/>
              </a:rPr>
              <a:t>Lambook</a:t>
            </a:r>
            <a:r>
              <a:rPr lang="es-ES" sz="1600" dirty="0">
                <a:effectLst/>
                <a:latin typeface="Arial" panose="020B0604020202020204" pitchFamily="34" charset="0"/>
                <a:ea typeface="Aptos" panose="020B0004020202020204" pitchFamily="34" charset="0"/>
                <a:cs typeface="Arial" panose="020B0604020202020204" pitchFamily="34" charset="0"/>
              </a:rPr>
              <a:t>, SQL Driver, JPA.</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spcAft>
                <a:spcPts val="800"/>
              </a:spcAft>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Terminada la configuración se descargó el proyecto.</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spTree>
    <p:extLst>
      <p:ext uri="{BB962C8B-B14F-4D97-AF65-F5344CB8AC3E}">
        <p14:creationId xmlns:p14="http://schemas.microsoft.com/office/powerpoint/2010/main" val="1636019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41C08643-62C5-91F1-4E40-2990B12D05B3}"/>
              </a:ext>
            </a:extLst>
          </p:cNvPr>
          <p:cNvSpPr>
            <a:spLocks noGrp="1"/>
          </p:cNvSpPr>
          <p:nvPr>
            <p:ph type="sldNum" sz="quarter" idx="12"/>
          </p:nvPr>
        </p:nvSpPr>
        <p:spPr/>
        <p:txBody>
          <a:bodyPr/>
          <a:lstStyle/>
          <a:p>
            <a:fld id="{69FA31F3-3ACA-4F8A-A5BF-5A97288E8B98}" type="slidenum">
              <a:rPr lang="es-MX" smtClean="0"/>
              <a:t>8</a:t>
            </a:fld>
            <a:endParaRPr lang="es-MX"/>
          </a:p>
        </p:txBody>
      </p:sp>
      <p:sp>
        <p:nvSpPr>
          <p:cNvPr id="5" name="CuadroTexto 4">
            <a:extLst>
              <a:ext uri="{FF2B5EF4-FFF2-40B4-BE49-F238E27FC236}">
                <a16:creationId xmlns:a16="http://schemas.microsoft.com/office/drawing/2014/main" id="{F25D6832-8BE9-D6BE-8E56-8C8F319703E9}"/>
              </a:ext>
            </a:extLst>
          </p:cNvPr>
          <p:cNvSpPr txBox="1"/>
          <p:nvPr/>
        </p:nvSpPr>
        <p:spPr>
          <a:xfrm>
            <a:off x="1673901" y="696092"/>
            <a:ext cx="8844198" cy="3159839"/>
          </a:xfrm>
          <a:prstGeom prst="rect">
            <a:avLst/>
          </a:prstGeom>
          <a:noFill/>
        </p:spPr>
        <p:txBody>
          <a:bodyPr wrap="square" rtlCol="0">
            <a:spAutoFit/>
          </a:bodyPr>
          <a:lstStyle/>
          <a:p>
            <a:pPr algn="just">
              <a:lnSpc>
                <a:spcPct val="150000"/>
              </a:lnSpc>
              <a:spcAft>
                <a:spcPts val="800"/>
              </a:spcAft>
              <a:buNone/>
            </a:pPr>
            <a:r>
              <a:rPr lang="es-ES" sz="1600" b="1" dirty="0">
                <a:effectLst/>
                <a:latin typeface="Arial" panose="020B0604020202020204" pitchFamily="34" charset="0"/>
                <a:ea typeface="Aptos" panose="020B0004020202020204" pitchFamily="34" charset="0"/>
                <a:cs typeface="Arial" panose="020B0604020202020204" pitchFamily="34" charset="0"/>
              </a:rPr>
              <a:t>Configuración de </a:t>
            </a:r>
            <a:r>
              <a:rPr lang="es-ES" sz="1600" b="1" dirty="0" err="1">
                <a:effectLst/>
                <a:latin typeface="Arial" panose="020B0604020202020204" pitchFamily="34" charset="0"/>
                <a:ea typeface="Aptos" panose="020B0004020202020204" pitchFamily="34" charset="0"/>
                <a:cs typeface="Arial" panose="020B0604020202020204" pitchFamily="34" charset="0"/>
              </a:rPr>
              <a:t>HeidiSQL</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Se descargó e instaló el programa.</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Se creó un usuario y contraseña para manejar la aplicación.</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También se creó una nueva base de datos que será la que administrará y almacenará la información de nuestra aplicación. Se nombró como “base”.</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spcAft>
                <a:spcPts val="800"/>
              </a:spcAft>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Dentro de </a:t>
            </a:r>
            <a:r>
              <a:rPr lang="es-ES" sz="1600" dirty="0" err="1">
                <a:effectLst/>
                <a:latin typeface="Arial" panose="020B0604020202020204" pitchFamily="34" charset="0"/>
                <a:ea typeface="Aptos" panose="020B0004020202020204" pitchFamily="34" charset="0"/>
                <a:cs typeface="Arial" panose="020B0604020202020204" pitchFamily="34" charset="0"/>
              </a:rPr>
              <a:t>intellij</a:t>
            </a:r>
            <a:r>
              <a:rPr lang="es-ES" sz="1600" dirty="0">
                <a:effectLst/>
                <a:latin typeface="Arial" panose="020B0604020202020204" pitchFamily="34" charset="0"/>
                <a:ea typeface="Aptos" panose="020B0004020202020204" pitchFamily="34" charset="0"/>
                <a:cs typeface="Arial" panose="020B0604020202020204" pitchFamily="34" charset="0"/>
              </a:rPr>
              <a:t> se enlazó a la base de datos proporcionando el usuario y contraseña mencionadas anteriormente. Este proceso se muestra a continuación.</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pic>
        <p:nvPicPr>
          <p:cNvPr id="6" name="Imagen 5">
            <a:extLst>
              <a:ext uri="{FF2B5EF4-FFF2-40B4-BE49-F238E27FC236}">
                <a16:creationId xmlns:a16="http://schemas.microsoft.com/office/drawing/2014/main" id="{BC654C32-2BDF-DFF3-A18D-54E580E41212}"/>
              </a:ext>
            </a:extLst>
          </p:cNvPr>
          <p:cNvPicPr>
            <a:picLocks noChangeAspect="1"/>
          </p:cNvPicPr>
          <p:nvPr/>
        </p:nvPicPr>
        <p:blipFill rotWithShape="1">
          <a:blip r:embed="rId2"/>
          <a:srcRect l="10692" t="8151" r="13102" b="32683"/>
          <a:stretch/>
        </p:blipFill>
        <p:spPr bwMode="auto">
          <a:xfrm>
            <a:off x="2725230" y="3713333"/>
            <a:ext cx="6473187" cy="282557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99830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E64396-AA8C-3F1C-D063-129B9604ACBA}"/>
              </a:ext>
            </a:extLst>
          </p:cNvPr>
          <p:cNvSpPr>
            <a:spLocks noGrp="1"/>
          </p:cNvSpPr>
          <p:nvPr>
            <p:ph type="sldNum" sz="quarter" idx="12"/>
          </p:nvPr>
        </p:nvSpPr>
        <p:spPr/>
        <p:txBody>
          <a:bodyPr/>
          <a:lstStyle/>
          <a:p>
            <a:fld id="{69FA31F3-3ACA-4F8A-A5BF-5A97288E8B98}" type="slidenum">
              <a:rPr lang="es-MX" smtClean="0"/>
              <a:t>9</a:t>
            </a:fld>
            <a:endParaRPr lang="es-MX"/>
          </a:p>
        </p:txBody>
      </p:sp>
      <p:sp>
        <p:nvSpPr>
          <p:cNvPr id="5" name="CuadroTexto 4">
            <a:extLst>
              <a:ext uri="{FF2B5EF4-FFF2-40B4-BE49-F238E27FC236}">
                <a16:creationId xmlns:a16="http://schemas.microsoft.com/office/drawing/2014/main" id="{E94CB2B5-090D-90BA-9AA2-C9F085734EE0}"/>
              </a:ext>
            </a:extLst>
          </p:cNvPr>
          <p:cNvSpPr txBox="1"/>
          <p:nvPr/>
        </p:nvSpPr>
        <p:spPr>
          <a:xfrm>
            <a:off x="1663908" y="1214203"/>
            <a:ext cx="9218951" cy="2003882"/>
          </a:xfrm>
          <a:prstGeom prst="rect">
            <a:avLst/>
          </a:prstGeom>
          <a:noFill/>
        </p:spPr>
        <p:txBody>
          <a:bodyPr wrap="square" rtlCol="0">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Proyecto en </a:t>
            </a:r>
            <a:r>
              <a:rPr lang="es-MX" sz="1600" b="1" dirty="0" err="1">
                <a:effectLst/>
                <a:latin typeface="Arial" panose="020B0604020202020204" pitchFamily="34" charset="0"/>
                <a:ea typeface="Aptos" panose="020B0004020202020204" pitchFamily="34" charset="0"/>
                <a:cs typeface="Arial" panose="020B0604020202020204" pitchFamily="34" charset="0"/>
              </a:rPr>
              <a:t>Intellij</a:t>
            </a:r>
            <a:r>
              <a:rPr lang="es-MX" sz="1600" b="1" dirty="0">
                <a:effectLst/>
                <a:latin typeface="Arial" panose="020B0604020202020204" pitchFamily="34" charset="0"/>
                <a:ea typeface="Aptos" panose="020B0004020202020204" pitchFamily="34" charset="0"/>
                <a:cs typeface="Arial" panose="020B0604020202020204" pitchFamily="34" charset="0"/>
              </a:rPr>
              <a:t> </a:t>
            </a:r>
            <a:r>
              <a:rPr lang="es-MX" sz="1600" b="1" dirty="0" err="1">
                <a:effectLst/>
                <a:latin typeface="Arial" panose="020B0604020202020204" pitchFamily="34" charset="0"/>
                <a:ea typeface="Aptos" panose="020B0004020202020204" pitchFamily="34" charset="0"/>
                <a:cs typeface="Arial" panose="020B0604020202020204" pitchFamily="34" charset="0"/>
              </a:rPr>
              <a:t>Community</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mj-lt"/>
              <a:buAutoNum type="arabicPeriod"/>
            </a:pPr>
            <a:r>
              <a:rPr lang="es-MX" sz="1600" dirty="0">
                <a:effectLst/>
                <a:latin typeface="Arial" panose="020B0604020202020204" pitchFamily="34" charset="0"/>
                <a:ea typeface="Aptos" panose="020B0004020202020204" pitchFamily="34" charset="0"/>
                <a:cs typeface="Arial" panose="020B0604020202020204" pitchFamily="34" charset="0"/>
              </a:rPr>
              <a:t>Se creó un nuevo proyecto el cual tendrá como estructura el </a:t>
            </a:r>
            <a:r>
              <a:rPr lang="es-MX" sz="1600" dirty="0" err="1">
                <a:effectLst/>
                <a:latin typeface="Arial" panose="020B0604020202020204" pitchFamily="34" charset="0"/>
                <a:ea typeface="Aptos" panose="020B0004020202020204" pitchFamily="34" charset="0"/>
                <a:cs typeface="Arial" panose="020B0604020202020204" pitchFamily="34" charset="0"/>
              </a:rPr>
              <a:t>springboot</a:t>
            </a:r>
            <a:r>
              <a:rPr lang="es-MX" sz="1600" dirty="0">
                <a:effectLst/>
                <a:latin typeface="Arial" panose="020B0604020202020204" pitchFamily="34" charset="0"/>
                <a:ea typeface="Aptos" panose="020B0004020202020204" pitchFamily="34" charset="0"/>
                <a:cs typeface="Arial" panose="020B0604020202020204" pitchFamily="34" charset="0"/>
              </a:rPr>
              <a:t> antes descargado.</a:t>
            </a:r>
          </a:p>
          <a:p>
            <a:pPr marL="342900" lvl="0" indent="-342900" algn="just">
              <a:lnSpc>
                <a:spcPct val="150000"/>
              </a:lnSpc>
              <a:buFont typeface="+mj-lt"/>
              <a:buAutoNum type="arabicPeriod"/>
            </a:pPr>
            <a:r>
              <a:rPr lang="es-MX" sz="1600" dirty="0">
                <a:effectLst/>
                <a:latin typeface="Arial" panose="020B0604020202020204" pitchFamily="34" charset="0"/>
                <a:ea typeface="Aptos" panose="020B0004020202020204" pitchFamily="34" charset="0"/>
                <a:cs typeface="Arial" panose="020B0604020202020204" pitchFamily="34" charset="0"/>
              </a:rPr>
              <a:t>Antes de iniciar con la codificación se esperó cierto tiempo para descargar todos los elementos necesarios.</a:t>
            </a:r>
          </a:p>
          <a:p>
            <a:pPr marL="342900" lvl="0" indent="-342900" algn="just">
              <a:lnSpc>
                <a:spcPct val="150000"/>
              </a:lnSpc>
              <a:spcAft>
                <a:spcPts val="800"/>
              </a:spcAft>
              <a:buFont typeface="+mj-lt"/>
              <a:buAutoNum type="arabicPeriod"/>
            </a:pPr>
            <a:r>
              <a:rPr lang="es-MX" sz="1600" dirty="0">
                <a:effectLst/>
                <a:latin typeface="Arial" panose="020B0604020202020204" pitchFamily="34" charset="0"/>
                <a:ea typeface="Aptos" panose="020B0004020202020204" pitchFamily="34" charset="0"/>
                <a:cs typeface="Arial" panose="020B0604020202020204" pitchFamily="34" charset="0"/>
              </a:rPr>
              <a:t>Dentro de </a:t>
            </a:r>
            <a:r>
              <a:rPr lang="es-MX" sz="1600" dirty="0" err="1">
                <a:effectLst/>
                <a:latin typeface="Arial" panose="020B0604020202020204" pitchFamily="34" charset="0"/>
                <a:ea typeface="Aptos" panose="020B0004020202020204" pitchFamily="34" charset="0"/>
                <a:cs typeface="Arial" panose="020B0604020202020204" pitchFamily="34" charset="0"/>
              </a:rPr>
              <a:t>Intellij</a:t>
            </a:r>
            <a:r>
              <a:rPr lang="es-MX" sz="1600" dirty="0">
                <a:effectLst/>
                <a:latin typeface="Arial" panose="020B0604020202020204" pitchFamily="34" charset="0"/>
                <a:ea typeface="Aptos" panose="020B0004020202020204" pitchFamily="34" charset="0"/>
                <a:cs typeface="Arial" panose="020B0604020202020204" pitchFamily="34" charset="0"/>
              </a:rPr>
              <a:t> se añadieron las librerías necesarias en este caso la de </a:t>
            </a:r>
            <a:r>
              <a:rPr lang="es-MX" sz="1600" dirty="0" err="1">
                <a:effectLst/>
                <a:latin typeface="Arial" panose="020B0604020202020204" pitchFamily="34" charset="0"/>
                <a:ea typeface="Aptos" panose="020B0004020202020204" pitchFamily="34" charset="0"/>
                <a:cs typeface="Arial" panose="020B0604020202020204" pitchFamily="34" charset="0"/>
              </a:rPr>
              <a:t>JavaFX</a:t>
            </a:r>
            <a:r>
              <a:rPr lang="es-MX" sz="1600" dirty="0">
                <a:effectLst/>
                <a:latin typeface="Arial" panose="020B0604020202020204" pitchFamily="34" charset="0"/>
                <a:ea typeface="Aptos" panose="020B0004020202020204" pitchFamily="34" charset="0"/>
                <a:cs typeface="Arial" panose="020B0604020202020204" pitchFamily="34" charset="0"/>
              </a:rPr>
              <a:t>.</a:t>
            </a:r>
          </a:p>
        </p:txBody>
      </p:sp>
    </p:spTree>
    <p:extLst>
      <p:ext uri="{BB962C8B-B14F-4D97-AF65-F5344CB8AC3E}">
        <p14:creationId xmlns:p14="http://schemas.microsoft.com/office/powerpoint/2010/main" val="62154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BF19F3C-23A7-3971-8A82-90DB35436453}"/>
              </a:ext>
            </a:extLst>
          </p:cNvPr>
          <p:cNvSpPr>
            <a:spLocks noGrp="1"/>
          </p:cNvSpPr>
          <p:nvPr>
            <p:ph type="sldNum" sz="quarter" idx="12"/>
          </p:nvPr>
        </p:nvSpPr>
        <p:spPr/>
        <p:txBody>
          <a:bodyPr/>
          <a:lstStyle/>
          <a:p>
            <a:fld id="{69FA31F3-3ACA-4F8A-A5BF-5A97288E8B98}" type="slidenum">
              <a:rPr lang="es-MX" smtClean="0"/>
              <a:t>10</a:t>
            </a:fld>
            <a:endParaRPr lang="es-MX"/>
          </a:p>
        </p:txBody>
      </p:sp>
      <p:sp>
        <p:nvSpPr>
          <p:cNvPr id="5" name="CuadroTexto 4">
            <a:extLst>
              <a:ext uri="{FF2B5EF4-FFF2-40B4-BE49-F238E27FC236}">
                <a16:creationId xmlns:a16="http://schemas.microsoft.com/office/drawing/2014/main" id="{C22C3A4F-B84A-F6CB-CDBA-618837CED2A3}"/>
              </a:ext>
            </a:extLst>
          </p:cNvPr>
          <p:cNvSpPr txBox="1"/>
          <p:nvPr/>
        </p:nvSpPr>
        <p:spPr>
          <a:xfrm>
            <a:off x="760908" y="873720"/>
            <a:ext cx="4879612" cy="5847755"/>
          </a:xfrm>
          <a:prstGeom prst="rect">
            <a:avLst/>
          </a:prstGeom>
          <a:noFill/>
        </p:spPr>
        <p:txBody>
          <a:bodyPr wrap="square" rtlCol="0">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Clase principal</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La descripción de parte del código se presenta en seguida</a:t>
            </a:r>
          </a:p>
          <a:p>
            <a:pPr marL="342900" lvl="0" indent="-342900" algn="just">
              <a:lnSpc>
                <a:spcPct val="150000"/>
              </a:lnSpc>
              <a:buFont typeface="+mj-lt"/>
              <a:buAutoNum type="arabicPeriod"/>
            </a:pPr>
            <a:r>
              <a:rPr lang="es-MX" sz="1600" dirty="0">
                <a:effectLst/>
                <a:latin typeface="Arial" panose="020B0604020202020204" pitchFamily="34" charset="0"/>
                <a:ea typeface="Aptos" panose="020B0004020202020204" pitchFamily="34" charset="0"/>
                <a:cs typeface="Arial" panose="020B0604020202020204" pitchFamily="34" charset="0"/>
              </a:rPr>
              <a:t>La clase </a:t>
            </a:r>
            <a:r>
              <a:rPr lang="es-MX" sz="1600" dirty="0" err="1">
                <a:effectLst/>
                <a:latin typeface="Arial" panose="020B0604020202020204" pitchFamily="34" charset="0"/>
                <a:ea typeface="Aptos" panose="020B0004020202020204" pitchFamily="34" charset="0"/>
                <a:cs typeface="Arial" panose="020B0604020202020204" pitchFamily="34" charset="0"/>
              </a:rPr>
              <a:t>Main</a:t>
            </a:r>
            <a:r>
              <a:rPr lang="es-MX" sz="1600" dirty="0">
                <a:effectLst/>
                <a:latin typeface="Arial" panose="020B0604020202020204" pitchFamily="34" charset="0"/>
                <a:ea typeface="Aptos" panose="020B0004020202020204" pitchFamily="34" charset="0"/>
                <a:cs typeface="Arial" panose="020B0604020202020204" pitchFamily="34" charset="0"/>
              </a:rPr>
              <a:t> extiende </a:t>
            </a:r>
            <a:r>
              <a:rPr lang="es-MX" sz="1600" dirty="0" err="1">
                <a:effectLst/>
                <a:latin typeface="Arial" panose="020B0604020202020204" pitchFamily="34" charset="0"/>
                <a:ea typeface="Aptos" panose="020B0004020202020204" pitchFamily="34" charset="0"/>
                <a:cs typeface="Arial" panose="020B0604020202020204" pitchFamily="34" charset="0"/>
              </a:rPr>
              <a:t>Application</a:t>
            </a:r>
            <a:r>
              <a:rPr lang="es-MX" sz="1600" dirty="0">
                <a:effectLst/>
                <a:latin typeface="Arial" panose="020B0604020202020204" pitchFamily="34" charset="0"/>
                <a:ea typeface="Aptos" panose="020B0004020202020204" pitchFamily="34" charset="0"/>
                <a:cs typeface="Arial" panose="020B0604020202020204" pitchFamily="34" charset="0"/>
              </a:rPr>
              <a:t>, lo que la convierte en la entrada principal de la aplicación </a:t>
            </a:r>
            <a:r>
              <a:rPr lang="es-MX" sz="1600" dirty="0" err="1">
                <a:effectLst/>
                <a:latin typeface="Arial" panose="020B0604020202020204" pitchFamily="34" charset="0"/>
                <a:ea typeface="Aptos" panose="020B0004020202020204" pitchFamily="34" charset="0"/>
                <a:cs typeface="Arial" panose="020B0604020202020204" pitchFamily="34" charset="0"/>
              </a:rPr>
              <a:t>JavaFX</a:t>
            </a:r>
            <a:r>
              <a:rPr lang="es-MX" sz="1600" dirty="0">
                <a:effectLst/>
                <a:latin typeface="Arial" panose="020B0604020202020204" pitchFamily="34" charset="0"/>
                <a:ea typeface="Aptos" panose="020B0004020202020204" pitchFamily="34" charset="0"/>
                <a:cs typeface="Arial" panose="020B0604020202020204" pitchFamily="34" charset="0"/>
              </a:rPr>
              <a:t>.</a:t>
            </a:r>
          </a:p>
          <a:p>
            <a:pPr marL="342900" lvl="0" indent="-342900" algn="just">
              <a:lnSpc>
                <a:spcPct val="150000"/>
              </a:lnSpc>
              <a:buFont typeface="+mj-lt"/>
              <a:buAutoNum type="arabicPeriod"/>
            </a:pPr>
            <a:r>
              <a:rPr lang="es-MX" sz="1600" dirty="0">
                <a:effectLst/>
                <a:latin typeface="Arial" panose="020B0604020202020204" pitchFamily="34" charset="0"/>
                <a:ea typeface="Aptos" panose="020B0004020202020204" pitchFamily="34" charset="0"/>
                <a:cs typeface="Arial" panose="020B0604020202020204" pitchFamily="34" charset="0"/>
              </a:rPr>
              <a:t>Se declaró una variable estática </a:t>
            </a:r>
            <a:r>
              <a:rPr lang="es-MX" sz="1600" dirty="0" err="1">
                <a:effectLst/>
                <a:latin typeface="Arial" panose="020B0604020202020204" pitchFamily="34" charset="0"/>
                <a:ea typeface="Aptos" panose="020B0004020202020204" pitchFamily="34" charset="0"/>
                <a:cs typeface="Arial" panose="020B0604020202020204" pitchFamily="34" charset="0"/>
              </a:rPr>
              <a:t>context</a:t>
            </a:r>
            <a:r>
              <a:rPr lang="es-MX" sz="1600" dirty="0">
                <a:effectLst/>
                <a:latin typeface="Arial" panose="020B0604020202020204" pitchFamily="34" charset="0"/>
                <a:ea typeface="Aptos" panose="020B0004020202020204" pitchFamily="34" charset="0"/>
                <a:cs typeface="Arial" panose="020B0604020202020204" pitchFamily="34" charset="0"/>
              </a:rPr>
              <a:t> de tipo </a:t>
            </a:r>
            <a:r>
              <a:rPr lang="es-MX" sz="1600" dirty="0" err="1">
                <a:effectLst/>
                <a:latin typeface="Arial" panose="020B0604020202020204" pitchFamily="34" charset="0"/>
                <a:ea typeface="Aptos" panose="020B0004020202020204" pitchFamily="34" charset="0"/>
                <a:cs typeface="Arial" panose="020B0604020202020204" pitchFamily="34" charset="0"/>
              </a:rPr>
              <a:t>ConfigurableApplicationContext</a:t>
            </a:r>
            <a:r>
              <a:rPr lang="es-MX" sz="1600" dirty="0">
                <a:effectLst/>
                <a:latin typeface="Arial" panose="020B0604020202020204" pitchFamily="34" charset="0"/>
                <a:ea typeface="Aptos" panose="020B0004020202020204" pitchFamily="34" charset="0"/>
                <a:cs typeface="Arial" panose="020B0604020202020204" pitchFamily="34" charset="0"/>
              </a:rPr>
              <a:t>, que se utiliza para acceder al Spring.</a:t>
            </a:r>
          </a:p>
          <a:p>
            <a:pPr marL="342900" lvl="0" indent="-342900" algn="just">
              <a:lnSpc>
                <a:spcPct val="150000"/>
              </a:lnSpc>
              <a:buFont typeface="+mj-lt"/>
              <a:buAutoNum type="arabicPeriod"/>
            </a:pPr>
            <a:r>
              <a:rPr lang="es-ES" sz="1600" dirty="0">
                <a:effectLst/>
                <a:latin typeface="Arial" panose="020B0604020202020204" pitchFamily="34" charset="0"/>
                <a:ea typeface="Aptos" panose="020B0004020202020204" pitchFamily="34" charset="0"/>
                <a:cs typeface="Arial" panose="020B0604020202020204" pitchFamily="34" charset="0"/>
              </a:rPr>
              <a:t>El método </a:t>
            </a:r>
            <a:r>
              <a:rPr lang="es-ES" sz="1600" dirty="0" err="1">
                <a:effectLst/>
                <a:latin typeface="Arial" panose="020B0604020202020204" pitchFamily="34" charset="0"/>
                <a:ea typeface="Aptos" panose="020B0004020202020204" pitchFamily="34" charset="0"/>
                <a:cs typeface="Arial" panose="020B0604020202020204" pitchFamily="34" charset="0"/>
              </a:rPr>
              <a:t>main</a:t>
            </a:r>
            <a:r>
              <a:rPr lang="es-ES" sz="1600" dirty="0">
                <a:effectLst/>
                <a:latin typeface="Arial" panose="020B0604020202020204" pitchFamily="34" charset="0"/>
                <a:ea typeface="Aptos" panose="020B0004020202020204" pitchFamily="34" charset="0"/>
                <a:cs typeface="Arial" panose="020B0604020202020204" pitchFamily="34" charset="0"/>
              </a:rPr>
              <a:t> es el punto de entrada de la aplicación. Llama al método </a:t>
            </a:r>
            <a:r>
              <a:rPr lang="es-ES" sz="1600" dirty="0" err="1">
                <a:effectLst/>
                <a:latin typeface="Arial" panose="020B0604020202020204" pitchFamily="34" charset="0"/>
                <a:ea typeface="Aptos" panose="020B0004020202020204" pitchFamily="34" charset="0"/>
                <a:cs typeface="Arial" panose="020B0604020202020204" pitchFamily="34" charset="0"/>
              </a:rPr>
              <a:t>launch</a:t>
            </a:r>
            <a:r>
              <a:rPr lang="es-ES" sz="1600" dirty="0">
                <a:effectLst/>
                <a:latin typeface="Arial" panose="020B0604020202020204" pitchFamily="34" charset="0"/>
                <a:ea typeface="Aptos" panose="020B0004020202020204" pitchFamily="34" charset="0"/>
                <a:cs typeface="Arial" panose="020B0604020202020204" pitchFamily="34" charset="0"/>
              </a:rPr>
              <a:t>(), que inicia la aplicación </a:t>
            </a:r>
            <a:r>
              <a:rPr lang="es-ES" sz="1600" dirty="0" err="1">
                <a:effectLst/>
                <a:latin typeface="Arial" panose="020B0604020202020204" pitchFamily="34" charset="0"/>
                <a:ea typeface="Aptos" panose="020B0004020202020204" pitchFamily="34" charset="0"/>
                <a:cs typeface="Arial" panose="020B0604020202020204" pitchFamily="34" charset="0"/>
              </a:rPr>
              <a:t>JavaFX</a:t>
            </a:r>
            <a:r>
              <a:rPr lang="es-ES" sz="1600" dirty="0">
                <a:effectLst/>
                <a:latin typeface="Arial" panose="020B0604020202020204" pitchFamily="34" charset="0"/>
                <a:ea typeface="Aptos" panose="020B0004020202020204" pitchFamily="34" charset="0"/>
                <a:cs typeface="Arial" panose="020B0604020202020204" pitchFamily="34" charset="0"/>
              </a:rPr>
              <a:t>.</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50000"/>
              </a:lnSpc>
              <a:spcAft>
                <a:spcPts val="800"/>
              </a:spcAft>
              <a:buFont typeface="+mj-lt"/>
              <a:buAutoNum type="arabicPeriod"/>
            </a:pPr>
            <a:r>
              <a:rPr lang="es-MX" sz="1600" dirty="0">
                <a:effectLst/>
                <a:latin typeface="Arial" panose="020B0604020202020204" pitchFamily="34" charset="0"/>
                <a:ea typeface="Aptos" panose="020B0004020202020204" pitchFamily="34" charset="0"/>
                <a:cs typeface="Arial" panose="020B0604020202020204" pitchFamily="34" charset="0"/>
              </a:rPr>
              <a:t>El método </a:t>
            </a:r>
            <a:r>
              <a:rPr lang="es-MX" sz="1600" dirty="0" err="1">
                <a:effectLst/>
                <a:latin typeface="Arial" panose="020B0604020202020204" pitchFamily="34" charset="0"/>
                <a:ea typeface="Aptos" panose="020B0004020202020204" pitchFamily="34" charset="0"/>
                <a:cs typeface="Arial" panose="020B0604020202020204" pitchFamily="34" charset="0"/>
              </a:rPr>
              <a:t>start</a:t>
            </a:r>
            <a:r>
              <a:rPr lang="es-MX" sz="1600" dirty="0">
                <a:effectLst/>
                <a:latin typeface="Arial" panose="020B0604020202020204" pitchFamily="34" charset="0"/>
                <a:ea typeface="Aptos" panose="020B0004020202020204" pitchFamily="34" charset="0"/>
                <a:cs typeface="Arial" panose="020B0604020202020204" pitchFamily="34" charset="0"/>
              </a:rPr>
              <a:t> es donde se configura y muestra la interfaz gráfica de la aplicación.</a:t>
            </a:r>
          </a:p>
          <a:p>
            <a:endParaRPr lang="es-MX" dirty="0"/>
          </a:p>
        </p:txBody>
      </p:sp>
      <p:pic>
        <p:nvPicPr>
          <p:cNvPr id="6" name="Imagen 5">
            <a:extLst>
              <a:ext uri="{FF2B5EF4-FFF2-40B4-BE49-F238E27FC236}">
                <a16:creationId xmlns:a16="http://schemas.microsoft.com/office/drawing/2014/main" id="{ACD0028C-EC40-CC6F-4A27-88D30935BF1A}"/>
              </a:ext>
            </a:extLst>
          </p:cNvPr>
          <p:cNvPicPr>
            <a:picLocks noChangeAspect="1"/>
          </p:cNvPicPr>
          <p:nvPr/>
        </p:nvPicPr>
        <p:blipFill rotWithShape="1">
          <a:blip r:embed="rId2">
            <a:extLst>
              <a:ext uri="{28A0092B-C50C-407E-A947-70E740481C1C}">
                <a14:useLocalDpi xmlns:a14="http://schemas.microsoft.com/office/drawing/2010/main" val="0"/>
              </a:ext>
            </a:extLst>
          </a:blip>
          <a:srcRect l="28003" t="4528" r="849" b="8231"/>
          <a:stretch/>
        </p:blipFill>
        <p:spPr bwMode="auto">
          <a:xfrm>
            <a:off x="5832882" y="1484026"/>
            <a:ext cx="6020592" cy="388319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08112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B5E45C4-8A77-4F5C-0056-D6D09090F4FD}"/>
              </a:ext>
            </a:extLst>
          </p:cNvPr>
          <p:cNvSpPr>
            <a:spLocks noGrp="1"/>
          </p:cNvSpPr>
          <p:nvPr>
            <p:ph type="sldNum" sz="quarter" idx="12"/>
          </p:nvPr>
        </p:nvSpPr>
        <p:spPr/>
        <p:txBody>
          <a:bodyPr/>
          <a:lstStyle/>
          <a:p>
            <a:fld id="{69FA31F3-3ACA-4F8A-A5BF-5A97288E8B98}" type="slidenum">
              <a:rPr lang="es-MX" smtClean="0"/>
              <a:t>11</a:t>
            </a:fld>
            <a:endParaRPr lang="es-MX"/>
          </a:p>
        </p:txBody>
      </p:sp>
      <p:sp>
        <p:nvSpPr>
          <p:cNvPr id="5" name="CuadroTexto 4">
            <a:extLst>
              <a:ext uri="{FF2B5EF4-FFF2-40B4-BE49-F238E27FC236}">
                <a16:creationId xmlns:a16="http://schemas.microsoft.com/office/drawing/2014/main" id="{9B703D3F-BBA2-7BA0-C712-3852F678F6EB}"/>
              </a:ext>
            </a:extLst>
          </p:cNvPr>
          <p:cNvSpPr txBox="1"/>
          <p:nvPr/>
        </p:nvSpPr>
        <p:spPr>
          <a:xfrm>
            <a:off x="774492" y="1108559"/>
            <a:ext cx="6670441" cy="5755422"/>
          </a:xfrm>
          <a:prstGeom prst="rect">
            <a:avLst/>
          </a:prstGeom>
          <a:noFill/>
        </p:spPr>
        <p:txBody>
          <a:bodyPr wrap="square" rtlCol="0">
            <a:spAutoFit/>
          </a:bodyPr>
          <a:lstStyle/>
          <a:p>
            <a:pPr algn="just">
              <a:lnSpc>
                <a:spcPct val="150000"/>
              </a:lnSpc>
              <a:spcAft>
                <a:spcPts val="800"/>
              </a:spcAft>
              <a:buNone/>
            </a:pPr>
            <a:r>
              <a:rPr lang="es-MX" sz="1600" b="1" dirty="0" err="1">
                <a:effectLst/>
                <a:latin typeface="Arial" panose="020B0604020202020204" pitchFamily="34" charset="0"/>
                <a:ea typeface="Aptos" panose="020B0004020202020204" pitchFamily="34" charset="0"/>
                <a:cs typeface="Arial" panose="020B0604020202020204" pitchFamily="34" charset="0"/>
              </a:rPr>
              <a:t>Controller</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MX" sz="1600" dirty="0">
                <a:effectLst/>
                <a:latin typeface="Arial" panose="020B0604020202020204" pitchFamily="34" charset="0"/>
                <a:ea typeface="Aptos" panose="020B0004020202020204" pitchFamily="34" charset="0"/>
                <a:cs typeface="Arial" panose="020B0604020202020204" pitchFamily="34" charset="0"/>
              </a:rPr>
              <a:t>Los controladores actúan como intermediarios entre el y la vista (que es la interfaz de usuario). Su función principal es recibir las solicitudes del usuario desde la vista, procesar esas solicitudes y devolver la respuesta adecuada, por esta razón a cada vista corresponde un controlador. Aquí se añadieron las dependencias y parte del código para manejar los elementos insertados en la interfaz.</a:t>
            </a:r>
          </a:p>
          <a:p>
            <a:pPr algn="just">
              <a:lnSpc>
                <a:spcPct val="150000"/>
              </a:lnSpc>
              <a:spcAft>
                <a:spcPts val="800"/>
              </a:spcAft>
            </a:pPr>
            <a:r>
              <a:rPr lang="es-MX" sz="1800" kern="0" dirty="0">
                <a:effectLst/>
                <a:latin typeface="Arial" panose="020B0604020202020204" pitchFamily="34" charset="0"/>
                <a:ea typeface="Aptos" panose="020B0004020202020204" pitchFamily="34" charset="0"/>
              </a:rPr>
              <a:t>Debido a las características de la aplicación la mayor parte del código se incluyó en esta área; en el caso de </a:t>
            </a:r>
            <a:r>
              <a:rPr lang="es-MX" sz="1800" kern="0" dirty="0" err="1">
                <a:effectLst/>
                <a:latin typeface="Arial" panose="020B0604020202020204" pitchFamily="34" charset="0"/>
                <a:ea typeface="Aptos" panose="020B0004020202020204" pitchFamily="34" charset="0"/>
              </a:rPr>
              <a:t>LoginController</a:t>
            </a:r>
            <a:r>
              <a:rPr lang="es-MX" sz="1800" kern="0" dirty="0">
                <a:effectLst/>
                <a:latin typeface="Arial" panose="020B0604020202020204" pitchFamily="34" charset="0"/>
                <a:ea typeface="Aptos" panose="020B0004020202020204" pitchFamily="34" charset="0"/>
              </a:rPr>
              <a:t> contiene las conexiones a otras ventanas después de ingresar un usuario y una contraseña, </a:t>
            </a:r>
            <a:r>
              <a:rPr lang="es-MX" sz="1800" kern="0" dirty="0" err="1">
                <a:effectLst/>
                <a:latin typeface="Arial" panose="020B0604020202020204" pitchFamily="34" charset="0"/>
                <a:ea typeface="Aptos" panose="020B0004020202020204" pitchFamily="34" charset="0"/>
              </a:rPr>
              <a:t>UsuarioController</a:t>
            </a:r>
            <a:r>
              <a:rPr lang="es-MX" sz="1800" kern="0" dirty="0">
                <a:effectLst/>
                <a:latin typeface="Arial" panose="020B0604020202020204" pitchFamily="34" charset="0"/>
                <a:ea typeface="Aptos" panose="020B0004020202020204" pitchFamily="34" charset="0"/>
              </a:rPr>
              <a:t> incluye el método para crear un nuevo usuario y almacenarlo en la base de datos para tener acceso a la aplicación.</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pic>
        <p:nvPicPr>
          <p:cNvPr id="6" name="Imagen 5">
            <a:extLst>
              <a:ext uri="{FF2B5EF4-FFF2-40B4-BE49-F238E27FC236}">
                <a16:creationId xmlns:a16="http://schemas.microsoft.com/office/drawing/2014/main" id="{26A75425-8378-D1AC-37A2-38BE4A763205}"/>
              </a:ext>
            </a:extLst>
          </p:cNvPr>
          <p:cNvPicPr>
            <a:picLocks noChangeAspect="1"/>
          </p:cNvPicPr>
          <p:nvPr/>
        </p:nvPicPr>
        <p:blipFill rotWithShape="1">
          <a:blip r:embed="rId2">
            <a:extLst>
              <a:ext uri="{28A0092B-C50C-407E-A947-70E740481C1C}">
                <a14:useLocalDpi xmlns:a14="http://schemas.microsoft.com/office/drawing/2010/main" val="0"/>
              </a:ext>
            </a:extLst>
          </a:blip>
          <a:srcRect l="2885" t="25357" r="61643" b="45059"/>
          <a:stretch/>
        </p:blipFill>
        <p:spPr bwMode="auto">
          <a:xfrm>
            <a:off x="7593326" y="2400282"/>
            <a:ext cx="4388003" cy="205743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06632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83A4CA0-E903-F716-3F4A-7195DF27AA62}"/>
              </a:ext>
            </a:extLst>
          </p:cNvPr>
          <p:cNvSpPr>
            <a:spLocks noGrp="1"/>
          </p:cNvSpPr>
          <p:nvPr>
            <p:ph type="sldNum" sz="quarter" idx="12"/>
          </p:nvPr>
        </p:nvSpPr>
        <p:spPr/>
        <p:txBody>
          <a:bodyPr/>
          <a:lstStyle/>
          <a:p>
            <a:fld id="{69FA31F3-3ACA-4F8A-A5BF-5A97288E8B98}" type="slidenum">
              <a:rPr lang="es-MX" smtClean="0"/>
              <a:t>12</a:t>
            </a:fld>
            <a:endParaRPr lang="es-MX"/>
          </a:p>
        </p:txBody>
      </p:sp>
      <p:sp>
        <p:nvSpPr>
          <p:cNvPr id="8" name="CuadroTexto 7">
            <a:extLst>
              <a:ext uri="{FF2B5EF4-FFF2-40B4-BE49-F238E27FC236}">
                <a16:creationId xmlns:a16="http://schemas.microsoft.com/office/drawing/2014/main" id="{129D239E-F291-1D9B-4088-950AD3D7613B}"/>
              </a:ext>
            </a:extLst>
          </p:cNvPr>
          <p:cNvSpPr txBox="1"/>
          <p:nvPr/>
        </p:nvSpPr>
        <p:spPr>
          <a:xfrm>
            <a:off x="819150" y="573686"/>
            <a:ext cx="7004154" cy="6524863"/>
          </a:xfrm>
          <a:prstGeom prst="rect">
            <a:avLst/>
          </a:prstGeom>
          <a:noFill/>
        </p:spPr>
        <p:txBody>
          <a:bodyPr wrap="square" rtlCol="0">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Recursos-View</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Las vistas o </a:t>
            </a:r>
            <a:r>
              <a:rPr lang="es-MX" sz="1600" dirty="0" err="1">
                <a:effectLst/>
                <a:latin typeface="Arial" panose="020B0604020202020204" pitchFamily="34" charset="0"/>
                <a:ea typeface="Aptos" panose="020B0004020202020204" pitchFamily="34" charset="0"/>
                <a:cs typeface="Arial" panose="020B0604020202020204" pitchFamily="34" charset="0"/>
              </a:rPr>
              <a:t>view</a:t>
            </a:r>
            <a:r>
              <a:rPr lang="es-MX" sz="1600" dirty="0">
                <a:effectLst/>
                <a:latin typeface="Arial" panose="020B0604020202020204" pitchFamily="34" charset="0"/>
                <a:ea typeface="Aptos" panose="020B0004020202020204" pitchFamily="34" charset="0"/>
                <a:cs typeface="Arial" panose="020B0604020202020204" pitchFamily="34" charset="0"/>
              </a:rPr>
              <a:t> son componentes que se encargan de la presentación e interacción de la información al usuario.</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En esta sección de codificación se aplicaron los diseños de pantalla creados en la unidad 2 de esta asignatura en el programa </a:t>
            </a:r>
            <a:r>
              <a:rPr lang="es-MX" sz="1600" dirty="0" err="1">
                <a:effectLst/>
                <a:latin typeface="Arial" panose="020B0604020202020204" pitchFamily="34" charset="0"/>
                <a:ea typeface="Aptos" panose="020B0004020202020204" pitchFamily="34" charset="0"/>
                <a:cs typeface="Arial" panose="020B0604020202020204" pitchFamily="34" charset="0"/>
              </a:rPr>
              <a:t>WireframeSketcher</a:t>
            </a:r>
            <a:r>
              <a:rPr lang="es-MX" sz="1600" dirty="0">
                <a:effectLst/>
                <a:latin typeface="Arial" panose="020B0604020202020204" pitchFamily="34" charset="0"/>
                <a:ea typeface="Aptos" panose="020B0004020202020204" pitchFamily="34" charset="0"/>
                <a:cs typeface="Arial" panose="020B0604020202020204" pitchFamily="34" charset="0"/>
              </a:rPr>
              <a:t>.</a:t>
            </a: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Al igual que en el programa antes mencionado, la creación de las pantallas utiliza elementos como: </a:t>
            </a:r>
            <a:r>
              <a:rPr lang="es-MX" sz="1600" dirty="0" err="1">
                <a:effectLst/>
                <a:latin typeface="Arial" panose="020B0604020202020204" pitchFamily="34" charset="0"/>
                <a:ea typeface="Aptos" panose="020B0004020202020204" pitchFamily="34" charset="0"/>
                <a:cs typeface="Arial" panose="020B0604020202020204" pitchFamily="34" charset="0"/>
              </a:rPr>
              <a:t>Label</a:t>
            </a:r>
            <a:r>
              <a:rPr lang="es-MX" sz="1600" dirty="0">
                <a:effectLst/>
                <a:latin typeface="Arial" panose="020B0604020202020204" pitchFamily="34" charset="0"/>
                <a:ea typeface="Aptos" panose="020B0004020202020204" pitchFamily="34" charset="0"/>
                <a:cs typeface="Arial" panose="020B0604020202020204" pitchFamily="34" charset="0"/>
              </a:rPr>
              <a:t>, </a:t>
            </a:r>
            <a:r>
              <a:rPr lang="es-MX" sz="1600" dirty="0" err="1">
                <a:effectLst/>
                <a:latin typeface="Arial" panose="020B0604020202020204" pitchFamily="34" charset="0"/>
                <a:ea typeface="Aptos" panose="020B0004020202020204" pitchFamily="34" charset="0"/>
                <a:cs typeface="Arial" panose="020B0604020202020204" pitchFamily="34" charset="0"/>
              </a:rPr>
              <a:t>Button</a:t>
            </a:r>
            <a:r>
              <a:rPr lang="es-MX" sz="1600" dirty="0">
                <a:effectLst/>
                <a:latin typeface="Arial" panose="020B0604020202020204" pitchFamily="34" charset="0"/>
                <a:ea typeface="Aptos" panose="020B0004020202020204" pitchFamily="34" charset="0"/>
                <a:cs typeface="Arial" panose="020B0604020202020204" pitchFamily="34" charset="0"/>
              </a:rPr>
              <a:t>, </a:t>
            </a:r>
            <a:r>
              <a:rPr lang="es-MX" sz="1600" dirty="0" err="1">
                <a:effectLst/>
                <a:latin typeface="Arial" panose="020B0604020202020204" pitchFamily="34" charset="0"/>
                <a:ea typeface="Aptos" panose="020B0004020202020204" pitchFamily="34" charset="0"/>
                <a:cs typeface="Arial" panose="020B0604020202020204" pitchFamily="34" charset="0"/>
              </a:rPr>
              <a:t>Textfiel</a:t>
            </a:r>
            <a:r>
              <a:rPr lang="es-MX" sz="1600" dirty="0">
                <a:effectLst/>
                <a:latin typeface="Arial" panose="020B0604020202020204" pitchFamily="34" charset="0"/>
                <a:ea typeface="Aptos" panose="020B0004020202020204" pitchFamily="34" charset="0"/>
                <a:cs typeface="Arial" panose="020B0604020202020204" pitchFamily="34" charset="0"/>
              </a:rPr>
              <a:t>, entre otros. Siguiendo los diseños antes creados se logró completar la parte visual de la aplicación, utilizando las siguientes pantallas:</a:t>
            </a:r>
          </a:p>
          <a:p>
            <a:pPr marL="342900" lvl="0" indent="-342900" algn="just">
              <a:lnSpc>
                <a:spcPct val="150000"/>
              </a:lnSpc>
              <a:buFont typeface="Symbol" panose="05050102010706020507" pitchFamily="18" charset="2"/>
              <a:buChar char=""/>
            </a:pPr>
            <a:r>
              <a:rPr lang="es-MX" sz="1600" dirty="0" err="1">
                <a:effectLst/>
                <a:latin typeface="Arial" panose="020B0604020202020204" pitchFamily="34" charset="0"/>
                <a:ea typeface="Aptos" panose="020B0004020202020204" pitchFamily="34" charset="0"/>
                <a:cs typeface="Arial" panose="020B0604020202020204" pitchFamily="34" charset="0"/>
              </a:rPr>
              <a:t>Login</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gn="just">
              <a:lnSpc>
                <a:spcPct val="150000"/>
              </a:lnSpc>
              <a:buFont typeface="Symbol" panose="05050102010706020507" pitchFamily="18" charset="2"/>
              <a:buChar char=""/>
            </a:pPr>
            <a:r>
              <a:rPr lang="es-MX" sz="1600" dirty="0">
                <a:effectLst/>
                <a:latin typeface="Arial" panose="020B0604020202020204" pitchFamily="34" charset="0"/>
                <a:ea typeface="Aptos" panose="020B0004020202020204" pitchFamily="34" charset="0"/>
                <a:cs typeface="Arial" panose="020B0604020202020204" pitchFamily="34" charset="0"/>
              </a:rPr>
              <a:t>Bienvenida</a:t>
            </a:r>
          </a:p>
          <a:p>
            <a:pPr marL="342900" lvl="0" indent="-342900" algn="just">
              <a:lnSpc>
                <a:spcPct val="150000"/>
              </a:lnSpc>
              <a:buFont typeface="Symbol" panose="05050102010706020507" pitchFamily="18" charset="2"/>
              <a:buChar char=""/>
            </a:pPr>
            <a:r>
              <a:rPr lang="es-MX" sz="1600" dirty="0">
                <a:effectLst/>
                <a:latin typeface="Arial" panose="020B0604020202020204" pitchFamily="34" charset="0"/>
                <a:ea typeface="Aptos" panose="020B0004020202020204" pitchFamily="34" charset="0"/>
                <a:cs typeface="Arial" panose="020B0604020202020204" pitchFamily="34" charset="0"/>
              </a:rPr>
              <a:t>Error en inicio de sesión</a:t>
            </a:r>
          </a:p>
          <a:p>
            <a:pPr marL="342900" lvl="0" indent="-342900" algn="just">
              <a:lnSpc>
                <a:spcPct val="150000"/>
              </a:lnSpc>
              <a:spcAft>
                <a:spcPts val="800"/>
              </a:spcAft>
              <a:buFont typeface="Symbol" panose="05050102010706020507" pitchFamily="18" charset="2"/>
              <a:buChar char=""/>
            </a:pPr>
            <a:r>
              <a:rPr lang="es-MX" sz="1600" dirty="0">
                <a:effectLst/>
                <a:latin typeface="Arial" panose="020B0604020202020204" pitchFamily="34" charset="0"/>
                <a:ea typeface="Aptos" panose="020B0004020202020204" pitchFamily="34" charset="0"/>
                <a:cs typeface="Arial" panose="020B0604020202020204" pitchFamily="34" charset="0"/>
              </a:rPr>
              <a:t>Cliente</a:t>
            </a:r>
          </a:p>
          <a:p>
            <a:pPr marL="342900" lvl="0" indent="-342900" algn="just">
              <a:lnSpc>
                <a:spcPct val="150000"/>
              </a:lnSpc>
              <a:spcAft>
                <a:spcPts val="800"/>
              </a:spcAft>
              <a:buFont typeface="Symbol" panose="05050102010706020507" pitchFamily="18" charset="2"/>
              <a:buChar char=""/>
            </a:pPr>
            <a:r>
              <a:rPr lang="es-MX" sz="1600" dirty="0">
                <a:latin typeface="Arial" panose="020B0604020202020204" pitchFamily="34" charset="0"/>
                <a:ea typeface="Aptos" panose="020B0004020202020204" pitchFamily="34" charset="0"/>
                <a:cs typeface="Arial" panose="020B0604020202020204" pitchFamily="34" charset="0"/>
              </a:rPr>
              <a:t>Proveedor</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pic>
        <p:nvPicPr>
          <p:cNvPr id="9" name="Imagen 8">
            <a:extLst>
              <a:ext uri="{FF2B5EF4-FFF2-40B4-BE49-F238E27FC236}">
                <a16:creationId xmlns:a16="http://schemas.microsoft.com/office/drawing/2014/main" id="{3A455BFB-3ABF-F972-E0BA-41D74730B901}"/>
              </a:ext>
            </a:extLst>
          </p:cNvPr>
          <p:cNvPicPr>
            <a:picLocks noChangeAspect="1"/>
          </p:cNvPicPr>
          <p:nvPr/>
        </p:nvPicPr>
        <p:blipFill rotWithShape="1">
          <a:blip r:embed="rId2">
            <a:extLst>
              <a:ext uri="{28A0092B-C50C-407E-A947-70E740481C1C}">
                <a14:useLocalDpi xmlns:a14="http://schemas.microsoft.com/office/drawing/2010/main" val="0"/>
              </a:ext>
            </a:extLst>
          </a:blip>
          <a:srcRect l="5496" t="26291" r="74234" b="50802"/>
          <a:stretch/>
        </p:blipFill>
        <p:spPr bwMode="auto">
          <a:xfrm>
            <a:off x="8174425" y="1396683"/>
            <a:ext cx="3198425" cy="2032317"/>
          </a:xfrm>
          <a:prstGeom prst="rect">
            <a:avLst/>
          </a:prstGeom>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0C32AE8B-0399-D32A-2A2C-F199B80C87D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229" b="13735"/>
          <a:stretch/>
        </p:blipFill>
        <p:spPr bwMode="auto">
          <a:xfrm>
            <a:off x="8174426" y="4195380"/>
            <a:ext cx="3198424" cy="21609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60477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23DDE1B-81B1-460E-4DAE-9303AAEBB4A7}"/>
              </a:ext>
            </a:extLst>
          </p:cNvPr>
          <p:cNvSpPr>
            <a:spLocks noGrp="1"/>
          </p:cNvSpPr>
          <p:nvPr>
            <p:ph type="sldNum" sz="quarter" idx="12"/>
          </p:nvPr>
        </p:nvSpPr>
        <p:spPr/>
        <p:txBody>
          <a:bodyPr/>
          <a:lstStyle/>
          <a:p>
            <a:fld id="{69FA31F3-3ACA-4F8A-A5BF-5A97288E8B98}" type="slidenum">
              <a:rPr lang="es-MX" smtClean="0"/>
              <a:t>13</a:t>
            </a:fld>
            <a:endParaRPr lang="es-MX"/>
          </a:p>
        </p:txBody>
      </p:sp>
      <p:sp>
        <p:nvSpPr>
          <p:cNvPr id="5" name="CuadroTexto 4">
            <a:extLst>
              <a:ext uri="{FF2B5EF4-FFF2-40B4-BE49-F238E27FC236}">
                <a16:creationId xmlns:a16="http://schemas.microsoft.com/office/drawing/2014/main" id="{1AF2F362-6C9B-90B5-D668-716074A8EDB1}"/>
              </a:ext>
            </a:extLst>
          </p:cNvPr>
          <p:cNvSpPr txBox="1"/>
          <p:nvPr/>
        </p:nvSpPr>
        <p:spPr>
          <a:xfrm>
            <a:off x="1123950" y="1007824"/>
            <a:ext cx="5511800" cy="4842351"/>
          </a:xfrm>
          <a:prstGeom prst="rect">
            <a:avLst/>
          </a:prstGeom>
          <a:noFill/>
        </p:spPr>
        <p:txBody>
          <a:bodyPr wrap="square" rtlCol="0">
            <a:spAutoFit/>
          </a:bodyPr>
          <a:lstStyle/>
          <a:p>
            <a:pPr algn="just">
              <a:lnSpc>
                <a:spcPct val="150000"/>
              </a:lnSpc>
              <a:spcAft>
                <a:spcPts val="800"/>
              </a:spcAft>
              <a:buNone/>
            </a:pPr>
            <a:r>
              <a:rPr lang="es-MX" sz="1600" b="1" dirty="0" err="1">
                <a:effectLst/>
                <a:latin typeface="Arial" panose="020B0604020202020204" pitchFamily="34" charset="0"/>
                <a:ea typeface="Aptos" panose="020B0004020202020204" pitchFamily="34" charset="0"/>
                <a:cs typeface="Arial" panose="020B0604020202020204" pitchFamily="34" charset="0"/>
              </a:rPr>
              <a:t>Model</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s-MX" sz="1600" dirty="0">
                <a:effectLst/>
                <a:latin typeface="Arial" panose="020B0604020202020204" pitchFamily="34" charset="0"/>
                <a:ea typeface="Aptos" panose="020B0004020202020204" pitchFamily="34" charset="0"/>
                <a:cs typeface="Arial" panose="020B0604020202020204" pitchFamily="34" charset="0"/>
              </a:rPr>
              <a:t>En un </a:t>
            </a:r>
            <a:r>
              <a:rPr lang="es-MX" sz="1600" dirty="0" err="1">
                <a:effectLst/>
                <a:latin typeface="Arial" panose="020B0604020202020204" pitchFamily="34" charset="0"/>
                <a:ea typeface="Aptos" panose="020B0004020202020204" pitchFamily="34" charset="0"/>
                <a:cs typeface="Arial" panose="020B0604020202020204" pitchFamily="34" charset="0"/>
              </a:rPr>
              <a:t>package</a:t>
            </a:r>
            <a:r>
              <a:rPr lang="es-MX" sz="1600" dirty="0">
                <a:effectLst/>
                <a:latin typeface="Arial" panose="020B0604020202020204" pitchFamily="34" charset="0"/>
                <a:ea typeface="Aptos" panose="020B0004020202020204" pitchFamily="34" charset="0"/>
                <a:cs typeface="Arial" panose="020B0604020202020204" pitchFamily="34" charset="0"/>
              </a:rPr>
              <a:t> se almacenaron todos los </a:t>
            </a:r>
            <a:r>
              <a:rPr lang="es-MX" sz="1600" dirty="0" err="1">
                <a:effectLst/>
                <a:latin typeface="Arial" panose="020B0604020202020204" pitchFamily="34" charset="0"/>
                <a:ea typeface="Aptos" panose="020B0004020202020204" pitchFamily="34" charset="0"/>
                <a:cs typeface="Arial" panose="020B0604020202020204" pitchFamily="34" charset="0"/>
              </a:rPr>
              <a:t>model</a:t>
            </a:r>
            <a:r>
              <a:rPr lang="es-MX" sz="1600" dirty="0">
                <a:effectLst/>
                <a:latin typeface="Arial" panose="020B0604020202020204" pitchFamily="34" charset="0"/>
                <a:ea typeface="Aptos" panose="020B0004020202020204" pitchFamily="34" charset="0"/>
                <a:cs typeface="Arial" panose="020B0604020202020204" pitchFamily="34" charset="0"/>
              </a:rPr>
              <a:t> que corresponden a las entidades relacionadas al proyecto. Las clases creadas fueron las siguientes:</a:t>
            </a:r>
          </a:p>
          <a:p>
            <a:pPr marL="342900" lvl="0" indent="-342900" algn="just">
              <a:lnSpc>
                <a:spcPct val="150000"/>
              </a:lnSpc>
              <a:buFont typeface="Symbol" panose="05050102010706020507" pitchFamily="18" charset="2"/>
              <a:buChar char=""/>
            </a:pPr>
            <a:r>
              <a:rPr lang="es-MX" sz="1600" dirty="0">
                <a:effectLst/>
                <a:latin typeface="Arial" panose="020B0604020202020204" pitchFamily="34" charset="0"/>
                <a:ea typeface="Aptos" panose="020B0004020202020204" pitchFamily="34" charset="0"/>
                <a:cs typeface="Arial" panose="020B0604020202020204" pitchFamily="34" charset="0"/>
              </a:rPr>
              <a:t>Cliente</a:t>
            </a:r>
          </a:p>
          <a:p>
            <a:pPr marL="342900" lvl="0" indent="-342900" algn="just">
              <a:lnSpc>
                <a:spcPct val="150000"/>
              </a:lnSpc>
              <a:buFont typeface="Symbol" panose="05050102010706020507" pitchFamily="18" charset="2"/>
              <a:buChar char=""/>
            </a:pPr>
            <a:r>
              <a:rPr lang="es-MX" sz="1600" dirty="0">
                <a:effectLst/>
                <a:latin typeface="Arial" panose="020B0604020202020204" pitchFamily="34" charset="0"/>
                <a:ea typeface="Aptos" panose="020B0004020202020204" pitchFamily="34" charset="0"/>
                <a:cs typeface="Arial" panose="020B0604020202020204" pitchFamily="34" charset="0"/>
              </a:rPr>
              <a:t>Producto</a:t>
            </a:r>
          </a:p>
          <a:p>
            <a:pPr marL="342900" lvl="0" indent="-342900" algn="just">
              <a:lnSpc>
                <a:spcPct val="150000"/>
              </a:lnSpc>
              <a:buFont typeface="Symbol" panose="05050102010706020507" pitchFamily="18" charset="2"/>
              <a:buChar char=""/>
            </a:pPr>
            <a:r>
              <a:rPr lang="es-MX" sz="1600" dirty="0">
                <a:effectLst/>
                <a:latin typeface="Arial" panose="020B0604020202020204" pitchFamily="34" charset="0"/>
                <a:ea typeface="Aptos" panose="020B0004020202020204" pitchFamily="34" charset="0"/>
                <a:cs typeface="Arial" panose="020B0604020202020204" pitchFamily="34" charset="0"/>
              </a:rPr>
              <a:t>Proveedor</a:t>
            </a:r>
          </a:p>
          <a:p>
            <a:pPr marL="342900" lvl="0" indent="-342900" algn="just">
              <a:lnSpc>
                <a:spcPct val="150000"/>
              </a:lnSpc>
              <a:spcAft>
                <a:spcPts val="800"/>
              </a:spcAft>
              <a:buFont typeface="Symbol" panose="05050102010706020507" pitchFamily="18" charset="2"/>
              <a:buChar char=""/>
            </a:pPr>
            <a:r>
              <a:rPr lang="es-MX" sz="1600" dirty="0">
                <a:effectLst/>
                <a:latin typeface="Arial" panose="020B0604020202020204" pitchFamily="34" charset="0"/>
                <a:ea typeface="Aptos" panose="020B0004020202020204" pitchFamily="34" charset="0"/>
                <a:cs typeface="Arial" panose="020B0604020202020204" pitchFamily="34" charset="0"/>
              </a:rPr>
              <a:t>Usuario</a:t>
            </a:r>
          </a:p>
          <a:p>
            <a:pPr algn="just">
              <a:lnSpc>
                <a:spcPct val="150000"/>
              </a:lnSpc>
              <a:spcAft>
                <a:spcPts val="800"/>
              </a:spcAft>
            </a:pPr>
            <a:r>
              <a:rPr lang="es-MX" sz="1600" dirty="0">
                <a:effectLst/>
                <a:latin typeface="Arial" panose="020B0604020202020204" pitchFamily="34" charset="0"/>
                <a:ea typeface="Aptos" panose="020B0004020202020204" pitchFamily="34" charset="0"/>
                <a:cs typeface="Arial" panose="020B0604020202020204" pitchFamily="34" charset="0"/>
              </a:rPr>
              <a:t>En el código de cada uno de estos modelos se incluye la sintaxis necesaria para crear una tabla o entidad en la base de datos creada en </a:t>
            </a:r>
            <a:r>
              <a:rPr lang="es-MX" sz="1600" dirty="0" err="1">
                <a:effectLst/>
                <a:latin typeface="Arial" panose="020B0604020202020204" pitchFamily="34" charset="0"/>
                <a:ea typeface="Aptos" panose="020B0004020202020204" pitchFamily="34" charset="0"/>
                <a:cs typeface="Arial" panose="020B0604020202020204" pitchFamily="34" charset="0"/>
              </a:rPr>
              <a:t>HeidiSQL</a:t>
            </a:r>
            <a:r>
              <a:rPr lang="es-MX" sz="1600" dirty="0">
                <a:effectLst/>
                <a:latin typeface="Arial" panose="020B0604020202020204" pitchFamily="34" charset="0"/>
                <a:ea typeface="Aptos" panose="020B0004020202020204" pitchFamily="34" charset="0"/>
                <a:cs typeface="Arial" panose="020B0604020202020204" pitchFamily="34" charset="0"/>
              </a:rPr>
              <a:t>.</a:t>
            </a:r>
          </a:p>
          <a:p>
            <a:endParaRPr lang="es-MX" dirty="0"/>
          </a:p>
        </p:txBody>
      </p:sp>
      <p:pic>
        <p:nvPicPr>
          <p:cNvPr id="6" name="Imagen 5">
            <a:extLst>
              <a:ext uri="{FF2B5EF4-FFF2-40B4-BE49-F238E27FC236}">
                <a16:creationId xmlns:a16="http://schemas.microsoft.com/office/drawing/2014/main" id="{33AEA863-B12E-6EAE-7C66-29075B97FD4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0888" t="4831" r="3090" b="11853"/>
          <a:stretch/>
        </p:blipFill>
        <p:spPr bwMode="auto">
          <a:xfrm>
            <a:off x="7394121" y="279792"/>
            <a:ext cx="4169229" cy="2957899"/>
          </a:xfrm>
          <a:prstGeom prst="rect">
            <a:avLst/>
          </a:prstGeom>
          <a:ln>
            <a:noFill/>
          </a:ln>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E92C70B0-0CB6-7E78-A2D0-53D1732ADBAA}"/>
              </a:ext>
            </a:extLst>
          </p:cNvPr>
          <p:cNvPicPr>
            <a:picLocks noChangeAspect="1"/>
          </p:cNvPicPr>
          <p:nvPr/>
        </p:nvPicPr>
        <p:blipFill rotWithShape="1">
          <a:blip r:embed="rId3">
            <a:extLst>
              <a:ext uri="{28A0092B-C50C-407E-A947-70E740481C1C}">
                <a14:useLocalDpi xmlns:a14="http://schemas.microsoft.com/office/drawing/2010/main" val="0"/>
              </a:ext>
            </a:extLst>
          </a:blip>
          <a:srcRect l="27495" t="13283" r="28887" b="28759"/>
          <a:stretch/>
        </p:blipFill>
        <p:spPr bwMode="auto">
          <a:xfrm>
            <a:off x="7394121" y="3463453"/>
            <a:ext cx="4169229" cy="31147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7196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B9C2694-1A5E-857A-3916-683570FFFC09}"/>
              </a:ext>
            </a:extLst>
          </p:cNvPr>
          <p:cNvSpPr>
            <a:spLocks noGrp="1"/>
          </p:cNvSpPr>
          <p:nvPr>
            <p:ph type="sldNum" sz="quarter" idx="12"/>
          </p:nvPr>
        </p:nvSpPr>
        <p:spPr/>
        <p:txBody>
          <a:bodyPr/>
          <a:lstStyle/>
          <a:p>
            <a:fld id="{69FA31F3-3ACA-4F8A-A5BF-5A97288E8B98}" type="slidenum">
              <a:rPr lang="es-MX" smtClean="0"/>
              <a:t>14</a:t>
            </a:fld>
            <a:endParaRPr lang="es-MX"/>
          </a:p>
        </p:txBody>
      </p:sp>
      <p:sp>
        <p:nvSpPr>
          <p:cNvPr id="5" name="CuadroTexto 4">
            <a:extLst>
              <a:ext uri="{FF2B5EF4-FFF2-40B4-BE49-F238E27FC236}">
                <a16:creationId xmlns:a16="http://schemas.microsoft.com/office/drawing/2014/main" id="{05080B5B-CEFE-CB6F-2E34-70A16C62753D}"/>
              </a:ext>
            </a:extLst>
          </p:cNvPr>
          <p:cNvSpPr txBox="1"/>
          <p:nvPr/>
        </p:nvSpPr>
        <p:spPr>
          <a:xfrm>
            <a:off x="2247900" y="1047750"/>
            <a:ext cx="8763000" cy="2954207"/>
          </a:xfrm>
          <a:prstGeom prst="rect">
            <a:avLst/>
          </a:prstGeom>
          <a:noFill/>
        </p:spPr>
        <p:txBody>
          <a:bodyPr wrap="square" rtlCol="0">
            <a:spAutoFit/>
          </a:bodyPr>
          <a:lstStyle/>
          <a:p>
            <a:pPr algn="just">
              <a:lnSpc>
                <a:spcPct val="150000"/>
              </a:lnSpc>
              <a:spcAft>
                <a:spcPts val="800"/>
              </a:spcAft>
              <a:buNone/>
            </a:pPr>
            <a:r>
              <a:rPr lang="es-ES" sz="1600" b="1" dirty="0" err="1">
                <a:effectLst/>
                <a:latin typeface="Arial" panose="020B0604020202020204" pitchFamily="34" charset="0"/>
                <a:ea typeface="Aptos" panose="020B0004020202020204" pitchFamily="34" charset="0"/>
                <a:cs typeface="Arial" panose="020B0604020202020204" pitchFamily="34" charset="0"/>
              </a:rPr>
              <a:t>Repository</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ES" sz="1600" dirty="0">
                <a:effectLst/>
                <a:latin typeface="Arial" panose="020B0604020202020204" pitchFamily="34" charset="0"/>
                <a:ea typeface="Aptos" panose="020B0004020202020204" pitchFamily="34" charset="0"/>
                <a:cs typeface="Arial" panose="020B0604020202020204" pitchFamily="34" charset="0"/>
              </a:rPr>
              <a:t>Facilitan el acceso y la manipulación de los datos.</a:t>
            </a:r>
          </a:p>
          <a:p>
            <a:pPr algn="just">
              <a:lnSpc>
                <a:spcPct val="116000"/>
              </a:lnSpc>
              <a:spcAft>
                <a:spcPts val="800"/>
              </a:spcAft>
              <a:buNone/>
            </a:pPr>
            <a:r>
              <a:rPr lang="es-ES" sz="1800" dirty="0">
                <a:effectLst/>
                <a:latin typeface="Arial" panose="020B0604020202020204" pitchFamily="34" charset="0"/>
                <a:ea typeface="Aptos" panose="020B0004020202020204" pitchFamily="34" charset="0"/>
                <a:cs typeface="Times New Roman" panose="02020603050405020304" pitchFamily="18" charset="0"/>
              </a:rPr>
              <a:t>En esta parte del proyecto se relacionan las entidades con su ubicación en la base de datos usando la sintaxis:</a:t>
            </a:r>
            <a:endParaRPr lang="es-MX" sz="18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6000"/>
              </a:lnSpc>
              <a:spcAft>
                <a:spcPts val="800"/>
              </a:spcAft>
            </a:pPr>
            <a:r>
              <a:rPr lang="es-ES" sz="1800" dirty="0" err="1">
                <a:effectLst/>
                <a:latin typeface="Arial" panose="020B0604020202020204" pitchFamily="34" charset="0"/>
                <a:ea typeface="Aptos" panose="020B0004020202020204" pitchFamily="34" charset="0"/>
                <a:cs typeface="Times New Roman" panose="02020603050405020304" pitchFamily="18" charset="0"/>
              </a:rPr>
              <a:t>public</a:t>
            </a:r>
            <a:r>
              <a:rPr lang="es-ES" sz="1800" dirty="0">
                <a:effectLst/>
                <a:latin typeface="Arial" panose="020B0604020202020204" pitchFamily="34" charset="0"/>
                <a:ea typeface="Aptos" panose="020B0004020202020204" pitchFamily="34" charset="0"/>
                <a:cs typeface="Times New Roman" panose="02020603050405020304" pitchFamily="18" charset="0"/>
              </a:rPr>
              <a:t> interface </a:t>
            </a:r>
            <a:r>
              <a:rPr lang="es-ES" sz="1800" dirty="0" err="1">
                <a:effectLst/>
                <a:latin typeface="Arial" panose="020B0604020202020204" pitchFamily="34" charset="0"/>
                <a:ea typeface="Aptos" panose="020B0004020202020204" pitchFamily="34" charset="0"/>
                <a:cs typeface="Times New Roman" panose="02020603050405020304" pitchFamily="18" charset="0"/>
              </a:rPr>
              <a:t>UsuarioRepository</a:t>
            </a:r>
            <a:r>
              <a:rPr lang="es-ES" sz="1800" dirty="0">
                <a:effectLst/>
                <a:latin typeface="Arial" panose="020B0604020202020204" pitchFamily="34" charset="0"/>
                <a:ea typeface="Aptos" panose="020B0004020202020204" pitchFamily="34" charset="0"/>
                <a:cs typeface="Times New Roman" panose="02020603050405020304" pitchFamily="18" charset="0"/>
              </a:rPr>
              <a:t> </a:t>
            </a:r>
            <a:r>
              <a:rPr lang="es-ES" sz="1800" dirty="0" err="1">
                <a:effectLst/>
                <a:latin typeface="Arial" panose="020B0604020202020204" pitchFamily="34" charset="0"/>
                <a:ea typeface="Aptos" panose="020B0004020202020204" pitchFamily="34" charset="0"/>
                <a:cs typeface="Times New Roman" panose="02020603050405020304" pitchFamily="18" charset="0"/>
              </a:rPr>
              <a:t>extends</a:t>
            </a:r>
            <a:r>
              <a:rPr lang="es-ES" sz="1800" dirty="0">
                <a:effectLst/>
                <a:latin typeface="Arial" panose="020B0604020202020204" pitchFamily="34" charset="0"/>
                <a:ea typeface="Aptos" panose="020B0004020202020204" pitchFamily="34" charset="0"/>
                <a:cs typeface="Times New Roman" panose="02020603050405020304" pitchFamily="18" charset="0"/>
              </a:rPr>
              <a:t> </a:t>
            </a:r>
            <a:r>
              <a:rPr lang="es-ES" sz="1800" dirty="0" err="1">
                <a:effectLst/>
                <a:latin typeface="Arial" panose="020B0604020202020204" pitchFamily="34" charset="0"/>
                <a:ea typeface="Aptos" panose="020B0004020202020204" pitchFamily="34" charset="0"/>
                <a:cs typeface="Times New Roman" panose="02020603050405020304" pitchFamily="18" charset="0"/>
              </a:rPr>
              <a:t>JpaRepository</a:t>
            </a:r>
            <a:r>
              <a:rPr lang="es-ES" sz="1800" dirty="0">
                <a:effectLst/>
                <a:latin typeface="Arial" panose="020B0604020202020204" pitchFamily="34" charset="0"/>
                <a:ea typeface="Aptos" panose="020B0004020202020204" pitchFamily="34" charset="0"/>
                <a:cs typeface="Times New Roman" panose="02020603050405020304" pitchFamily="18" charset="0"/>
              </a:rPr>
              <a:t>&lt;Usuario, Long&gt; { }</a:t>
            </a:r>
            <a:endParaRPr lang="es-MX" sz="18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pPr>
            <a:r>
              <a:rPr lang="es-ES" sz="1600" dirty="0">
                <a:effectLst/>
                <a:latin typeface="Arial" panose="020B0604020202020204" pitchFamily="34" charset="0"/>
                <a:ea typeface="Aptos" panose="020B0004020202020204" pitchFamily="34" charset="0"/>
                <a:cs typeface="Arial" panose="020B0604020202020204" pitchFamily="34" charset="0"/>
              </a:rPr>
              <a:t> </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pic>
        <p:nvPicPr>
          <p:cNvPr id="6" name="Imagen 5">
            <a:extLst>
              <a:ext uri="{FF2B5EF4-FFF2-40B4-BE49-F238E27FC236}">
                <a16:creationId xmlns:a16="http://schemas.microsoft.com/office/drawing/2014/main" id="{E79A824E-8E4C-BD50-4984-B00E5F393AB9}"/>
              </a:ext>
            </a:extLst>
          </p:cNvPr>
          <p:cNvPicPr>
            <a:picLocks noChangeAspect="1"/>
          </p:cNvPicPr>
          <p:nvPr/>
        </p:nvPicPr>
        <p:blipFill rotWithShape="1">
          <a:blip r:embed="rId2"/>
          <a:srcRect t="15552" r="73287" b="61922"/>
          <a:stretch/>
        </p:blipFill>
        <p:spPr bwMode="auto">
          <a:xfrm>
            <a:off x="4386580" y="3429000"/>
            <a:ext cx="4224020" cy="200191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5477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9EE04-1ACF-5F6F-6CE9-2EA48A4C4242}"/>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C1CF81B-49DE-AFEE-DCF7-5EBF11637EF4}"/>
              </a:ext>
            </a:extLst>
          </p:cNvPr>
          <p:cNvSpPr>
            <a:spLocks noGrp="1"/>
          </p:cNvSpPr>
          <p:nvPr>
            <p:ph type="sldNum" sz="quarter" idx="12"/>
          </p:nvPr>
        </p:nvSpPr>
        <p:spPr/>
        <p:txBody>
          <a:bodyPr/>
          <a:lstStyle/>
          <a:p>
            <a:fld id="{69FA31F3-3ACA-4F8A-A5BF-5A97288E8B98}" type="slidenum">
              <a:rPr lang="es-MX" smtClean="0"/>
              <a:t>15</a:t>
            </a:fld>
            <a:endParaRPr lang="es-MX"/>
          </a:p>
        </p:txBody>
      </p:sp>
      <p:sp>
        <p:nvSpPr>
          <p:cNvPr id="5" name="CuadroTexto 4">
            <a:extLst>
              <a:ext uri="{FF2B5EF4-FFF2-40B4-BE49-F238E27FC236}">
                <a16:creationId xmlns:a16="http://schemas.microsoft.com/office/drawing/2014/main" id="{A965295A-F936-142E-1340-3EFB350767A8}"/>
              </a:ext>
            </a:extLst>
          </p:cNvPr>
          <p:cNvSpPr txBox="1"/>
          <p:nvPr/>
        </p:nvSpPr>
        <p:spPr>
          <a:xfrm>
            <a:off x="1648294" y="1462915"/>
            <a:ext cx="4962369" cy="4165243"/>
          </a:xfrm>
          <a:prstGeom prst="rect">
            <a:avLst/>
          </a:prstGeom>
          <a:noFill/>
        </p:spPr>
        <p:txBody>
          <a:bodyPr wrap="square" rtlCol="0">
            <a:spAutoFit/>
          </a:bodyPr>
          <a:lstStyle/>
          <a:p>
            <a:pPr algn="just">
              <a:lnSpc>
                <a:spcPct val="150000"/>
              </a:lnSpc>
              <a:spcAft>
                <a:spcPts val="800"/>
              </a:spcAft>
            </a:pPr>
            <a:r>
              <a:rPr lang="es-ES" sz="1600" b="1" dirty="0">
                <a:effectLst/>
                <a:latin typeface="Arial" panose="020B0604020202020204" pitchFamily="34" charset="0"/>
                <a:ea typeface="Aptos" panose="020B0004020202020204" pitchFamily="34" charset="0"/>
                <a:cs typeface="Arial" panose="020B0604020202020204" pitchFamily="34" charset="0"/>
              </a:rPr>
              <a:t>Pruebas</a:t>
            </a:r>
          </a:p>
          <a:p>
            <a:r>
              <a:rPr lang="es-MX" dirty="0"/>
              <a:t>Antes de presentar o entregar el proyecto al usuario final es necesario realizar una serie de pruebas que se enfocan en evaluar:</a:t>
            </a:r>
          </a:p>
          <a:p>
            <a:pPr marL="285750" indent="-285750">
              <a:buFont typeface="Arial" panose="020B0604020202020204" pitchFamily="34" charset="0"/>
              <a:buChar char="•"/>
            </a:pPr>
            <a:r>
              <a:rPr lang="es-MX" dirty="0"/>
              <a:t>Funcionalidad</a:t>
            </a:r>
          </a:p>
          <a:p>
            <a:pPr marL="285750" indent="-285750">
              <a:buFont typeface="Arial" panose="020B0604020202020204" pitchFamily="34" charset="0"/>
              <a:buChar char="•"/>
            </a:pPr>
            <a:r>
              <a:rPr lang="es-MX" dirty="0"/>
              <a:t>Usabilidad</a:t>
            </a:r>
          </a:p>
          <a:p>
            <a:pPr marL="285750" indent="-285750">
              <a:buFont typeface="Arial" panose="020B0604020202020204" pitchFamily="34" charset="0"/>
              <a:buChar char="•"/>
            </a:pPr>
            <a:r>
              <a:rPr lang="es-MX" dirty="0"/>
              <a:t>Rendimiento</a:t>
            </a:r>
          </a:p>
          <a:p>
            <a:pPr marL="285750" indent="-285750">
              <a:buFont typeface="Arial" panose="020B0604020202020204" pitchFamily="34" charset="0"/>
              <a:buChar char="•"/>
            </a:pPr>
            <a:endParaRPr lang="es-MX" dirty="0"/>
          </a:p>
          <a:p>
            <a:pPr algn="just"/>
            <a:r>
              <a:rPr lang="es-MX" dirty="0"/>
              <a:t>Al realizar ejercicios de inserción de datos, en este caso productos de abarrotes se tenía que observar si eran almacenados correctamente en la base de datos. Por otro lado también se verifico que la aplicación permitiera crear nuevos usuarios para acceder.</a:t>
            </a:r>
          </a:p>
        </p:txBody>
      </p:sp>
      <p:pic>
        <p:nvPicPr>
          <p:cNvPr id="3" name="Imagen 2">
            <a:extLst>
              <a:ext uri="{FF2B5EF4-FFF2-40B4-BE49-F238E27FC236}">
                <a16:creationId xmlns:a16="http://schemas.microsoft.com/office/drawing/2014/main" id="{C7A0E2A4-CC69-1EDF-980D-5DE0F30E58F1}"/>
              </a:ext>
            </a:extLst>
          </p:cNvPr>
          <p:cNvPicPr>
            <a:picLocks noChangeAspect="1"/>
          </p:cNvPicPr>
          <p:nvPr/>
        </p:nvPicPr>
        <p:blipFill>
          <a:blip r:embed="rId2">
            <a:extLst>
              <a:ext uri="{28A0092B-C50C-407E-A947-70E740481C1C}">
                <a14:useLocalDpi xmlns:a14="http://schemas.microsoft.com/office/drawing/2010/main" val="0"/>
              </a:ext>
            </a:extLst>
          </a:blip>
          <a:srcRect l="27541" t="11128" r="27582" b="31357"/>
          <a:stretch/>
        </p:blipFill>
        <p:spPr>
          <a:xfrm>
            <a:off x="7463481" y="1783829"/>
            <a:ext cx="3890319" cy="2803161"/>
          </a:xfrm>
          <a:prstGeom prst="rect">
            <a:avLst/>
          </a:prstGeom>
        </p:spPr>
      </p:pic>
    </p:spTree>
    <p:extLst>
      <p:ext uri="{BB962C8B-B14F-4D97-AF65-F5344CB8AC3E}">
        <p14:creationId xmlns:p14="http://schemas.microsoft.com/office/powerpoint/2010/main" val="2325781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1D10E-1B02-A9AC-C83D-5C260A7BA104}"/>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DAE27B7-4B5A-E8E7-A772-064B99464F4E}"/>
              </a:ext>
            </a:extLst>
          </p:cNvPr>
          <p:cNvSpPr>
            <a:spLocks noGrp="1"/>
          </p:cNvSpPr>
          <p:nvPr>
            <p:ph type="sldNum" sz="quarter" idx="12"/>
          </p:nvPr>
        </p:nvSpPr>
        <p:spPr/>
        <p:txBody>
          <a:bodyPr/>
          <a:lstStyle/>
          <a:p>
            <a:fld id="{69FA31F3-3ACA-4F8A-A5BF-5A97288E8B98}" type="slidenum">
              <a:rPr lang="es-MX" smtClean="0"/>
              <a:t>16</a:t>
            </a:fld>
            <a:endParaRPr lang="es-MX"/>
          </a:p>
        </p:txBody>
      </p:sp>
      <p:sp>
        <p:nvSpPr>
          <p:cNvPr id="5" name="CuadroTexto 4">
            <a:extLst>
              <a:ext uri="{FF2B5EF4-FFF2-40B4-BE49-F238E27FC236}">
                <a16:creationId xmlns:a16="http://schemas.microsoft.com/office/drawing/2014/main" id="{E3B1F6A1-D9B1-640F-4EB7-88ACE714DB47}"/>
              </a:ext>
            </a:extLst>
          </p:cNvPr>
          <p:cNvSpPr txBox="1"/>
          <p:nvPr/>
        </p:nvSpPr>
        <p:spPr>
          <a:xfrm>
            <a:off x="1333500" y="923270"/>
            <a:ext cx="4962369" cy="5273238"/>
          </a:xfrm>
          <a:prstGeom prst="rect">
            <a:avLst/>
          </a:prstGeom>
          <a:noFill/>
        </p:spPr>
        <p:txBody>
          <a:bodyPr wrap="square" rtlCol="0">
            <a:spAutoFit/>
          </a:bodyPr>
          <a:lstStyle/>
          <a:p>
            <a:pPr algn="just">
              <a:lnSpc>
                <a:spcPct val="150000"/>
              </a:lnSpc>
              <a:spcAft>
                <a:spcPts val="800"/>
              </a:spcAft>
            </a:pPr>
            <a:r>
              <a:rPr lang="es-ES" sz="1600" b="1" dirty="0">
                <a:effectLst/>
                <a:latin typeface="Arial" panose="020B0604020202020204" pitchFamily="34" charset="0"/>
                <a:ea typeface="Aptos" panose="020B0004020202020204" pitchFamily="34" charset="0"/>
                <a:cs typeface="Arial" panose="020B0604020202020204" pitchFamily="34" charset="0"/>
              </a:rPr>
              <a:t>Pruebas</a:t>
            </a:r>
          </a:p>
          <a:p>
            <a:pPr marL="285750" indent="-285750" algn="just">
              <a:buFont typeface="Arial" panose="020B0604020202020204" pitchFamily="34" charset="0"/>
              <a:buChar char="•"/>
            </a:pPr>
            <a:r>
              <a:rPr lang="es-MX" dirty="0">
                <a:latin typeface="Arial" panose="020B0604020202020204" pitchFamily="34" charset="0"/>
                <a:cs typeface="Arial" panose="020B0604020202020204" pitchFamily="34" charset="0"/>
              </a:rPr>
              <a:t>Teniendo datos almacenados se verificó que los productos pudieran ser encontrados al requerirlos a través de una búsqueda.</a:t>
            </a:r>
          </a:p>
          <a:p>
            <a:pPr marL="285750" indent="-285750" algn="just">
              <a:buFont typeface="Arial" panose="020B0604020202020204" pitchFamily="34" charset="0"/>
              <a:buChar char="•"/>
            </a:pPr>
            <a:r>
              <a:rPr lang="es-MX" dirty="0">
                <a:latin typeface="Arial" panose="020B0604020202020204" pitchFamily="34" charset="0"/>
                <a:cs typeface="Arial" panose="020B0604020202020204" pitchFamily="34" charset="0"/>
              </a:rPr>
              <a:t>Un punto importante a evaluar fue la interfaz de usuario, esta debe ser intuitiva, atrayente y fácil de usar. Es necesario que sea especifica en cuantos sus instrucciones y elementos contenidos.</a:t>
            </a:r>
          </a:p>
          <a:p>
            <a:pPr algn="just"/>
            <a:r>
              <a:rPr lang="es-MX" dirty="0">
                <a:latin typeface="Arial" panose="020B0604020202020204" pitchFamily="34" charset="0"/>
                <a:cs typeface="Arial" panose="020B0604020202020204" pitchFamily="34" charset="0"/>
              </a:rPr>
              <a:t>Esto puede comprobarse preguntándole a personas con poco conocimiento en la aplicación si es entendible y claro lo que aparece en pantalla.</a:t>
            </a:r>
          </a:p>
          <a:p>
            <a:pPr marL="285750" indent="-285750" algn="just">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Una vez analizado estos puntos es momento de presentar el proyecto al usuario o cliente, además de capacitarlo para usarlo de manera correcta.</a:t>
            </a:r>
          </a:p>
        </p:txBody>
      </p:sp>
      <p:pic>
        <p:nvPicPr>
          <p:cNvPr id="3" name="Imagen 2">
            <a:extLst>
              <a:ext uri="{FF2B5EF4-FFF2-40B4-BE49-F238E27FC236}">
                <a16:creationId xmlns:a16="http://schemas.microsoft.com/office/drawing/2014/main" id="{2C0AEAF5-D2C7-A988-FB22-C419CDADCC74}"/>
              </a:ext>
            </a:extLst>
          </p:cNvPr>
          <p:cNvPicPr>
            <a:picLocks noChangeAspect="1"/>
          </p:cNvPicPr>
          <p:nvPr/>
        </p:nvPicPr>
        <p:blipFill>
          <a:blip r:embed="rId2">
            <a:extLst>
              <a:ext uri="{28A0092B-C50C-407E-A947-70E740481C1C}">
                <a14:useLocalDpi xmlns:a14="http://schemas.microsoft.com/office/drawing/2010/main" val="0"/>
              </a:ext>
            </a:extLst>
          </a:blip>
          <a:srcRect l="27541" t="11128" r="27582" b="31357"/>
          <a:stretch/>
        </p:blipFill>
        <p:spPr>
          <a:xfrm>
            <a:off x="7463481" y="1783829"/>
            <a:ext cx="3890319" cy="2803161"/>
          </a:xfrm>
          <a:prstGeom prst="rect">
            <a:avLst/>
          </a:prstGeom>
        </p:spPr>
      </p:pic>
    </p:spTree>
    <p:extLst>
      <p:ext uri="{BB962C8B-B14F-4D97-AF65-F5344CB8AC3E}">
        <p14:creationId xmlns:p14="http://schemas.microsoft.com/office/powerpoint/2010/main" val="3167070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38E8-CD76-7A76-7A3C-771898CC43D1}"/>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B1B84CAE-A1C4-6055-ED23-BF7A9B59CD59}"/>
              </a:ext>
            </a:extLst>
          </p:cNvPr>
          <p:cNvSpPr>
            <a:spLocks noGrp="1"/>
          </p:cNvSpPr>
          <p:nvPr>
            <p:ph type="sldNum" sz="quarter" idx="12"/>
          </p:nvPr>
        </p:nvSpPr>
        <p:spPr/>
        <p:txBody>
          <a:bodyPr/>
          <a:lstStyle/>
          <a:p>
            <a:fld id="{69FA31F3-3ACA-4F8A-A5BF-5A97288E8B98}" type="slidenum">
              <a:rPr lang="es-MX" smtClean="0"/>
              <a:t>17</a:t>
            </a:fld>
            <a:endParaRPr lang="es-MX"/>
          </a:p>
        </p:txBody>
      </p:sp>
      <p:sp>
        <p:nvSpPr>
          <p:cNvPr id="5" name="CuadroTexto 4">
            <a:extLst>
              <a:ext uri="{FF2B5EF4-FFF2-40B4-BE49-F238E27FC236}">
                <a16:creationId xmlns:a16="http://schemas.microsoft.com/office/drawing/2014/main" id="{29A07516-8C83-4320-A130-405FEF3556AC}"/>
              </a:ext>
            </a:extLst>
          </p:cNvPr>
          <p:cNvSpPr txBox="1"/>
          <p:nvPr/>
        </p:nvSpPr>
        <p:spPr>
          <a:xfrm>
            <a:off x="1087412" y="1284875"/>
            <a:ext cx="4876800" cy="3898503"/>
          </a:xfrm>
          <a:prstGeom prst="rect">
            <a:avLst/>
          </a:prstGeom>
          <a:noFill/>
        </p:spPr>
        <p:txBody>
          <a:bodyPr wrap="square" rtlCol="0">
            <a:spAutoFit/>
          </a:bodyPr>
          <a:lstStyle/>
          <a:p>
            <a:pPr algn="just">
              <a:lnSpc>
                <a:spcPct val="150000"/>
              </a:lnSpc>
              <a:spcAft>
                <a:spcPts val="800"/>
              </a:spcAft>
              <a:buNone/>
            </a:pPr>
            <a:r>
              <a:rPr lang="es-ES" sz="1600" b="1" dirty="0">
                <a:latin typeface="Arial" panose="020B0604020202020204" pitchFamily="34" charset="0"/>
                <a:ea typeface="Aptos" panose="020B0004020202020204" pitchFamily="34" charset="0"/>
                <a:cs typeface="Arial" panose="020B0604020202020204" pitchFamily="34" charset="0"/>
              </a:rPr>
              <a:t>Presentación de la aplicación</a:t>
            </a:r>
            <a:endParaRPr lang="es-MX" sz="1600" dirty="0">
              <a:effectLst/>
              <a:latin typeface="Arial" panose="020B0604020202020204" pitchFamily="34" charset="0"/>
              <a:ea typeface="Aptos" panose="020B0004020202020204" pitchFamily="34" charset="0"/>
              <a:cs typeface="Arial" panose="020B0604020202020204" pitchFamily="34" charset="0"/>
            </a:endParaRPr>
          </a:p>
          <a:p>
            <a:pPr algn="just">
              <a:lnSpc>
                <a:spcPct val="150000"/>
              </a:lnSpc>
              <a:spcAft>
                <a:spcPts val="800"/>
              </a:spcAft>
            </a:pPr>
            <a:r>
              <a:rPr lang="es-ES" sz="1600" dirty="0">
                <a:latin typeface="Arial" panose="020B0604020202020204" pitchFamily="34" charset="0"/>
                <a:ea typeface="Aptos" panose="020B0004020202020204" pitchFamily="34" charset="0"/>
                <a:cs typeface="Arial" panose="020B0604020202020204" pitchFamily="34" charset="0"/>
              </a:rPr>
              <a:t>La presentación consiste en mostrar cómo está conformado el programa, esto incluye las ventanas o vistas con las que interactuará como usuario final, además también se informa de la estructura interna utilizada, aunque se tratan de conceptos más técnicos es importante que el cliente esté enterado sobre todo lo relevante al funcionamiento de la aplicación.</a:t>
            </a:r>
            <a:endParaRPr lang="es-MX" sz="1600" dirty="0">
              <a:effectLst/>
              <a:latin typeface="Arial" panose="020B0604020202020204" pitchFamily="34" charset="0"/>
              <a:ea typeface="Aptos" panose="020B0004020202020204" pitchFamily="34" charset="0"/>
              <a:cs typeface="Arial" panose="020B0604020202020204" pitchFamily="34" charset="0"/>
            </a:endParaRPr>
          </a:p>
          <a:p>
            <a:endParaRPr lang="es-MX" dirty="0"/>
          </a:p>
        </p:txBody>
      </p:sp>
      <p:pic>
        <p:nvPicPr>
          <p:cNvPr id="3" name="Imagen 2">
            <a:extLst>
              <a:ext uri="{FF2B5EF4-FFF2-40B4-BE49-F238E27FC236}">
                <a16:creationId xmlns:a16="http://schemas.microsoft.com/office/drawing/2014/main" id="{632247A0-A14F-A6A3-7C1C-8806AADD62C6}"/>
              </a:ext>
            </a:extLst>
          </p:cNvPr>
          <p:cNvPicPr>
            <a:picLocks noChangeAspect="1"/>
          </p:cNvPicPr>
          <p:nvPr/>
        </p:nvPicPr>
        <p:blipFill>
          <a:blip r:embed="rId3">
            <a:extLst>
              <a:ext uri="{28A0092B-C50C-407E-A947-70E740481C1C}">
                <a14:useLocalDpi xmlns:a14="http://schemas.microsoft.com/office/drawing/2010/main" val="0"/>
              </a:ext>
            </a:extLst>
          </a:blip>
          <a:srcRect l="28156" t="11565" r="29375" b="30046"/>
          <a:stretch/>
        </p:blipFill>
        <p:spPr>
          <a:xfrm>
            <a:off x="7312077" y="498367"/>
            <a:ext cx="3402767" cy="2630269"/>
          </a:xfrm>
          <a:prstGeom prst="rect">
            <a:avLst/>
          </a:prstGeom>
        </p:spPr>
      </p:pic>
      <p:pic>
        <p:nvPicPr>
          <p:cNvPr id="8" name="Imagen 7">
            <a:extLst>
              <a:ext uri="{FF2B5EF4-FFF2-40B4-BE49-F238E27FC236}">
                <a16:creationId xmlns:a16="http://schemas.microsoft.com/office/drawing/2014/main" id="{7FE8AAC3-F5E9-8920-394F-51DD7E1C163E}"/>
              </a:ext>
            </a:extLst>
          </p:cNvPr>
          <p:cNvPicPr>
            <a:picLocks noChangeAspect="1"/>
          </p:cNvPicPr>
          <p:nvPr/>
        </p:nvPicPr>
        <p:blipFill>
          <a:blip r:embed="rId4">
            <a:extLst>
              <a:ext uri="{28A0092B-C50C-407E-A947-70E740481C1C}">
                <a14:useLocalDpi xmlns:a14="http://schemas.microsoft.com/office/drawing/2010/main" val="0"/>
              </a:ext>
            </a:extLst>
          </a:blip>
          <a:srcRect l="28156" t="11785" r="28125" b="32669"/>
          <a:stretch/>
        </p:blipFill>
        <p:spPr>
          <a:xfrm>
            <a:off x="7312077" y="3553441"/>
            <a:ext cx="3527685" cy="2519893"/>
          </a:xfrm>
          <a:prstGeom prst="rect">
            <a:avLst/>
          </a:prstGeom>
        </p:spPr>
      </p:pic>
    </p:spTree>
    <p:extLst>
      <p:ext uri="{BB962C8B-B14F-4D97-AF65-F5344CB8AC3E}">
        <p14:creationId xmlns:p14="http://schemas.microsoft.com/office/powerpoint/2010/main" val="1006631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A943-97B5-3A32-EF32-4C6C525297B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3396184-C104-FB94-DB73-138E78D0FC17}"/>
              </a:ext>
            </a:extLst>
          </p:cNvPr>
          <p:cNvSpPr>
            <a:spLocks noGrp="1"/>
          </p:cNvSpPr>
          <p:nvPr>
            <p:ph type="sldNum" sz="quarter" idx="12"/>
          </p:nvPr>
        </p:nvSpPr>
        <p:spPr/>
        <p:txBody>
          <a:bodyPr/>
          <a:lstStyle/>
          <a:p>
            <a:fld id="{69FA31F3-3ACA-4F8A-A5BF-5A97288E8B98}" type="slidenum">
              <a:rPr lang="es-MX" smtClean="0"/>
              <a:t>18</a:t>
            </a:fld>
            <a:endParaRPr lang="es-MX"/>
          </a:p>
        </p:txBody>
      </p:sp>
      <p:sp>
        <p:nvSpPr>
          <p:cNvPr id="5" name="CuadroTexto 4">
            <a:extLst>
              <a:ext uri="{FF2B5EF4-FFF2-40B4-BE49-F238E27FC236}">
                <a16:creationId xmlns:a16="http://schemas.microsoft.com/office/drawing/2014/main" id="{DDC467AD-28E1-34A8-3A28-CFD21520DC34}"/>
              </a:ext>
            </a:extLst>
          </p:cNvPr>
          <p:cNvSpPr txBox="1"/>
          <p:nvPr/>
        </p:nvSpPr>
        <p:spPr>
          <a:xfrm>
            <a:off x="1087412" y="1284875"/>
            <a:ext cx="4876800" cy="3953133"/>
          </a:xfrm>
          <a:prstGeom prst="rect">
            <a:avLst/>
          </a:prstGeom>
          <a:noFill/>
        </p:spPr>
        <p:txBody>
          <a:bodyPr wrap="square" rtlCol="0">
            <a:spAutoFit/>
          </a:bodyPr>
          <a:lstStyle/>
          <a:p>
            <a:pPr algn="just">
              <a:lnSpc>
                <a:spcPct val="150000"/>
              </a:lnSpc>
              <a:spcAft>
                <a:spcPts val="800"/>
              </a:spcAft>
              <a:buNone/>
            </a:pPr>
            <a:r>
              <a:rPr lang="es-ES" sz="1600" b="1" dirty="0">
                <a:latin typeface="Arial" panose="020B0604020202020204" pitchFamily="34" charset="0"/>
                <a:ea typeface="Aptos" panose="020B0004020202020204" pitchFamily="34" charset="0"/>
                <a:cs typeface="Arial" panose="020B0604020202020204" pitchFamily="34" charset="0"/>
              </a:rPr>
              <a:t>Capacitación</a:t>
            </a:r>
          </a:p>
          <a:p>
            <a:pPr algn="just">
              <a:lnSpc>
                <a:spcPct val="150000"/>
              </a:lnSpc>
              <a:spcAft>
                <a:spcPts val="800"/>
              </a:spcAft>
              <a:buNone/>
            </a:pPr>
            <a:r>
              <a:rPr lang="es-ES" sz="1600" dirty="0">
                <a:latin typeface="Arial" panose="020B0604020202020204" pitchFamily="34" charset="0"/>
                <a:cs typeface="Arial" panose="020B0604020202020204" pitchFamily="34" charset="0"/>
              </a:rPr>
              <a:t>El proceso de capacitación consiste en instruir y enseñar al cliente la manera en que funciona la aplicación, esto puede realizarse a través de una demostración de inserción y búsqueda de datos para posteriormente realizar una práctica guiada.</a:t>
            </a:r>
          </a:p>
          <a:p>
            <a:pPr algn="just">
              <a:lnSpc>
                <a:spcPct val="150000"/>
              </a:lnSpc>
              <a:spcAft>
                <a:spcPts val="800"/>
              </a:spcAft>
              <a:buNone/>
            </a:pPr>
            <a:r>
              <a:rPr lang="es-ES" sz="1600" dirty="0">
                <a:latin typeface="Arial" panose="020B0604020202020204" pitchFamily="34" charset="0"/>
                <a:cs typeface="Arial" panose="020B0604020202020204" pitchFamily="34" charset="0"/>
              </a:rPr>
              <a:t>Después de la capacitación el proyecto es entregado y el resto del procedimiento de ingreso de productos le corresponderá al usuario final quien se encargará de usar el software.</a:t>
            </a:r>
            <a:endParaRPr lang="es-MX" dirty="0"/>
          </a:p>
        </p:txBody>
      </p:sp>
      <p:pic>
        <p:nvPicPr>
          <p:cNvPr id="3" name="Imagen 2">
            <a:extLst>
              <a:ext uri="{FF2B5EF4-FFF2-40B4-BE49-F238E27FC236}">
                <a16:creationId xmlns:a16="http://schemas.microsoft.com/office/drawing/2014/main" id="{CC702D1F-55B1-6FF1-C258-B715BF3D07C3}"/>
              </a:ext>
            </a:extLst>
          </p:cNvPr>
          <p:cNvPicPr>
            <a:picLocks noChangeAspect="1"/>
          </p:cNvPicPr>
          <p:nvPr/>
        </p:nvPicPr>
        <p:blipFill>
          <a:blip r:embed="rId3">
            <a:extLst>
              <a:ext uri="{28A0092B-C50C-407E-A947-70E740481C1C}">
                <a14:useLocalDpi xmlns:a14="http://schemas.microsoft.com/office/drawing/2010/main" val="0"/>
              </a:ext>
            </a:extLst>
          </a:blip>
          <a:srcRect l="28156" t="11565" r="29375" b="30046"/>
          <a:stretch/>
        </p:blipFill>
        <p:spPr>
          <a:xfrm>
            <a:off x="7312077" y="498367"/>
            <a:ext cx="3402767" cy="2630269"/>
          </a:xfrm>
          <a:prstGeom prst="rect">
            <a:avLst/>
          </a:prstGeom>
        </p:spPr>
      </p:pic>
      <p:pic>
        <p:nvPicPr>
          <p:cNvPr id="8" name="Imagen 7">
            <a:extLst>
              <a:ext uri="{FF2B5EF4-FFF2-40B4-BE49-F238E27FC236}">
                <a16:creationId xmlns:a16="http://schemas.microsoft.com/office/drawing/2014/main" id="{37F41108-9362-F662-775D-EF3D0339ACE1}"/>
              </a:ext>
            </a:extLst>
          </p:cNvPr>
          <p:cNvPicPr>
            <a:picLocks noChangeAspect="1"/>
          </p:cNvPicPr>
          <p:nvPr/>
        </p:nvPicPr>
        <p:blipFill>
          <a:blip r:embed="rId4">
            <a:extLst>
              <a:ext uri="{28A0092B-C50C-407E-A947-70E740481C1C}">
                <a14:useLocalDpi xmlns:a14="http://schemas.microsoft.com/office/drawing/2010/main" val="0"/>
              </a:ext>
            </a:extLst>
          </a:blip>
          <a:srcRect l="28156" t="11785" r="28125" b="32669"/>
          <a:stretch/>
        </p:blipFill>
        <p:spPr>
          <a:xfrm>
            <a:off x="7312077" y="3553441"/>
            <a:ext cx="3527685" cy="2519893"/>
          </a:xfrm>
          <a:prstGeom prst="rect">
            <a:avLst/>
          </a:prstGeom>
        </p:spPr>
      </p:pic>
    </p:spTree>
    <p:extLst>
      <p:ext uri="{BB962C8B-B14F-4D97-AF65-F5344CB8AC3E}">
        <p14:creationId xmlns:p14="http://schemas.microsoft.com/office/powerpoint/2010/main" val="458209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1AD6FC7-3DCB-9819-74CE-F0EEABDF310D}"/>
              </a:ext>
            </a:extLst>
          </p:cNvPr>
          <p:cNvSpPr>
            <a:spLocks noGrp="1"/>
          </p:cNvSpPr>
          <p:nvPr>
            <p:ph type="sldNum" sz="quarter" idx="12"/>
          </p:nvPr>
        </p:nvSpPr>
        <p:spPr/>
        <p:txBody>
          <a:bodyPr/>
          <a:lstStyle/>
          <a:p>
            <a:fld id="{69FA31F3-3ACA-4F8A-A5BF-5A97288E8B98}" type="slidenum">
              <a:rPr lang="es-MX" smtClean="0"/>
              <a:t>19</a:t>
            </a:fld>
            <a:endParaRPr lang="es-MX"/>
          </a:p>
        </p:txBody>
      </p:sp>
      <p:sp>
        <p:nvSpPr>
          <p:cNvPr id="5" name="CuadroTexto 4">
            <a:extLst>
              <a:ext uri="{FF2B5EF4-FFF2-40B4-BE49-F238E27FC236}">
                <a16:creationId xmlns:a16="http://schemas.microsoft.com/office/drawing/2014/main" id="{FAFCE9A2-5D26-1429-57F2-8EFC0CD6171E}"/>
              </a:ext>
            </a:extLst>
          </p:cNvPr>
          <p:cNvSpPr txBox="1"/>
          <p:nvPr/>
        </p:nvSpPr>
        <p:spPr>
          <a:xfrm>
            <a:off x="2046470" y="942819"/>
            <a:ext cx="8324850" cy="2139560"/>
          </a:xfrm>
          <a:prstGeom prst="rect">
            <a:avLst/>
          </a:prstGeom>
          <a:noFill/>
        </p:spPr>
        <p:txBody>
          <a:bodyPr wrap="square" rtlCol="0">
            <a:spAutoFit/>
          </a:bodyPr>
          <a:lstStyle/>
          <a:p>
            <a:pPr algn="just"/>
            <a:r>
              <a:rPr lang="es-MX" sz="1600" b="1" dirty="0">
                <a:latin typeface="Arial" panose="020B0604020202020204" pitchFamily="34" charset="0"/>
                <a:cs typeface="Arial" panose="020B0604020202020204" pitchFamily="34" charset="0"/>
              </a:rPr>
              <a:t>Conclusión</a:t>
            </a:r>
          </a:p>
          <a:p>
            <a:pPr algn="just">
              <a:lnSpc>
                <a:spcPct val="150000"/>
              </a:lnSpc>
            </a:pPr>
            <a:r>
              <a:rPr lang="es-MX" sz="1600" b="0" i="0" dirty="0">
                <a:effectLst/>
                <a:latin typeface="Arial" panose="020B0604020202020204" pitchFamily="34" charset="0"/>
                <a:cs typeface="Arial" panose="020B0604020202020204" pitchFamily="34" charset="0"/>
              </a:rPr>
              <a:t>La práctica consistió en  integrar </a:t>
            </a:r>
            <a:r>
              <a:rPr lang="es-MX" sz="1600" b="0" i="0" dirty="0" err="1">
                <a:effectLst/>
                <a:latin typeface="Arial" panose="020B0604020202020204" pitchFamily="34" charset="0"/>
                <a:cs typeface="Arial" panose="020B0604020202020204" pitchFamily="34" charset="0"/>
              </a:rPr>
              <a:t>JavaFX</a:t>
            </a:r>
            <a:r>
              <a:rPr lang="es-MX" sz="1600" b="0" i="0" dirty="0">
                <a:effectLst/>
                <a:latin typeface="Arial" panose="020B0604020202020204" pitchFamily="34" charset="0"/>
                <a:cs typeface="Arial" panose="020B0604020202020204" pitchFamily="34" charset="0"/>
              </a:rPr>
              <a:t> con Spring </a:t>
            </a:r>
            <a:r>
              <a:rPr lang="es-MX" sz="1600" b="0" i="0" dirty="0" err="1">
                <a:effectLst/>
                <a:latin typeface="Arial" panose="020B0604020202020204" pitchFamily="34" charset="0"/>
                <a:cs typeface="Arial" panose="020B0604020202020204" pitchFamily="34" charset="0"/>
              </a:rPr>
              <a:t>Boot</a:t>
            </a:r>
            <a:r>
              <a:rPr lang="es-MX" sz="1600" b="0" i="0" dirty="0">
                <a:effectLst/>
                <a:latin typeface="Arial" panose="020B0604020202020204" pitchFamily="34" charset="0"/>
                <a:cs typeface="Arial" panose="020B0604020202020204" pitchFamily="34" charset="0"/>
              </a:rPr>
              <a:t> y una base de datos</a:t>
            </a:r>
            <a:r>
              <a:rPr lang="es-MX" sz="1600" dirty="0">
                <a:latin typeface="Arial" panose="020B0604020202020204" pitchFamily="34" charset="0"/>
                <a:cs typeface="Arial" panose="020B0604020202020204" pitchFamily="34" charset="0"/>
              </a:rPr>
              <a:t>. </a:t>
            </a:r>
            <a:r>
              <a:rPr lang="es-MX" sz="1600" b="0" i="0" dirty="0">
                <a:effectLst/>
                <a:latin typeface="Arial" panose="020B0604020202020204" pitchFamily="34" charset="0"/>
                <a:cs typeface="Arial" panose="020B0604020202020204" pitchFamily="34" charset="0"/>
              </a:rPr>
              <a:t>A través de este ejercicio, se aprendieron conceptos importantes sobre la inyección de dependencias, la gestión de contextos, entre otros, además utilizando y comprendiendo el funcionamiento de estas herramientas fue posible la realización de la aplicación que corresponde a la solución de la problemática expuesta en la unidad 1 de esta asignatura.</a:t>
            </a:r>
            <a:endParaRPr lang="es-MX" sz="1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8320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D79A63A-2343-19BD-269B-1FED7B2D5BCA}"/>
              </a:ext>
            </a:extLst>
          </p:cNvPr>
          <p:cNvSpPr>
            <a:spLocks noGrp="1"/>
          </p:cNvSpPr>
          <p:nvPr>
            <p:ph type="sldNum" sz="quarter" idx="12"/>
          </p:nvPr>
        </p:nvSpPr>
        <p:spPr/>
        <p:txBody>
          <a:bodyPr/>
          <a:lstStyle/>
          <a:p>
            <a:fld id="{69FA31F3-3ACA-4F8A-A5BF-5A97288E8B98}" type="slidenum">
              <a:rPr lang="es-MX" smtClean="0"/>
              <a:t>20</a:t>
            </a:fld>
            <a:endParaRPr lang="es-MX"/>
          </a:p>
        </p:txBody>
      </p:sp>
      <p:sp>
        <p:nvSpPr>
          <p:cNvPr id="5" name="CuadroTexto 4">
            <a:extLst>
              <a:ext uri="{FF2B5EF4-FFF2-40B4-BE49-F238E27FC236}">
                <a16:creationId xmlns:a16="http://schemas.microsoft.com/office/drawing/2014/main" id="{F51DD0B6-DA6B-730F-4739-26FA3BE852F0}"/>
              </a:ext>
            </a:extLst>
          </p:cNvPr>
          <p:cNvSpPr txBox="1"/>
          <p:nvPr/>
        </p:nvSpPr>
        <p:spPr>
          <a:xfrm>
            <a:off x="1933575" y="822898"/>
            <a:ext cx="8324850" cy="3170099"/>
          </a:xfrm>
          <a:prstGeom prst="rect">
            <a:avLst/>
          </a:prstGeom>
          <a:noFill/>
        </p:spPr>
        <p:txBody>
          <a:bodyPr wrap="square" rtlCol="0">
            <a:spAutoFit/>
          </a:bodyPr>
          <a:lstStyle/>
          <a:p>
            <a:pPr algn="just"/>
            <a:r>
              <a:rPr lang="es-MX" sz="1600" b="1" dirty="0">
                <a:latin typeface="Arial" panose="020B0604020202020204" pitchFamily="34" charset="0"/>
                <a:cs typeface="Arial" panose="020B0604020202020204" pitchFamily="34" charset="0"/>
              </a:rPr>
              <a:t>Fuentes de información</a:t>
            </a:r>
          </a:p>
          <a:p>
            <a:pPr marL="285750" indent="-285750" algn="just">
              <a:lnSpc>
                <a:spcPct val="150000"/>
              </a:lnSpc>
              <a:buFont typeface="Arial" panose="020B0604020202020204" pitchFamily="34" charset="0"/>
              <a:buChar char="•"/>
            </a:pPr>
            <a:r>
              <a:rPr lang="es-MX" sz="1600" dirty="0">
                <a:latin typeface="Arial" panose="020B0604020202020204" pitchFamily="34" charset="0"/>
                <a:cs typeface="Arial" panose="020B0604020202020204" pitchFamily="34" charset="0"/>
              </a:rPr>
              <a:t>El diseño del código se basó en las pantallas creadas en la unidad 2 de Ingeniería de software tomando en cuenta los requisitos solicitados.</a:t>
            </a:r>
          </a:p>
          <a:p>
            <a:pPr marL="285750" indent="-285750" algn="just">
              <a:lnSpc>
                <a:spcPct val="150000"/>
              </a:lnSpc>
              <a:buFont typeface="Arial" panose="020B0604020202020204" pitchFamily="34" charset="0"/>
              <a:buChar char="•"/>
            </a:pPr>
            <a:endParaRPr kumimoji="0" lang="es-MX" altLang="es-MX" sz="160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r>
              <a:rPr kumimoji="0" lang="es-MX" altLang="es-MX" sz="1600" u="none" strike="noStrike" cap="none" normalizeH="0" baseline="0" dirty="0" err="1">
                <a:ln>
                  <a:noFill/>
                </a:ln>
                <a:solidFill>
                  <a:schemeClr val="tx1"/>
                </a:solidFill>
                <a:effectLst/>
                <a:latin typeface="Arial" panose="020B0604020202020204" pitchFamily="34" charset="0"/>
                <a:cs typeface="Arial" panose="020B0604020202020204" pitchFamily="34" charset="0"/>
              </a:rPr>
              <a:t>Natsoft</a:t>
            </a:r>
            <a:r>
              <a:rPr kumimoji="0" lang="es-MX" altLang="es-MX" sz="1600" u="none" strike="noStrike" cap="none" normalizeH="0" baseline="0" dirty="0">
                <a:ln>
                  <a:noFill/>
                </a:ln>
                <a:solidFill>
                  <a:schemeClr val="tx1"/>
                </a:solidFill>
                <a:effectLst/>
                <a:latin typeface="Arial" panose="020B0604020202020204" pitchFamily="34" charset="0"/>
                <a:cs typeface="Arial" panose="020B0604020202020204" pitchFamily="34" charset="0"/>
              </a:rPr>
              <a:t>. (2024, 10 enero). CRUD 2024 Spring </a:t>
            </a:r>
            <a:r>
              <a:rPr kumimoji="0" lang="es-MX" altLang="es-MX" sz="1600" u="none" strike="noStrike" cap="none" normalizeH="0" baseline="0" dirty="0" err="1">
                <a:ln>
                  <a:noFill/>
                </a:ln>
                <a:solidFill>
                  <a:schemeClr val="tx1"/>
                </a:solidFill>
                <a:effectLst/>
                <a:latin typeface="Arial" panose="020B0604020202020204" pitchFamily="34" charset="0"/>
                <a:cs typeface="Arial" panose="020B0604020202020204" pitchFamily="34" charset="0"/>
              </a:rPr>
              <a:t>Boot</a:t>
            </a:r>
            <a:r>
              <a:rPr kumimoji="0" lang="es-MX" altLang="es-MX" sz="1600" u="none" strike="noStrike" cap="none" normalizeH="0" baseline="0" dirty="0">
                <a:ln>
                  <a:noFill/>
                </a:ln>
                <a:solidFill>
                  <a:schemeClr val="tx1"/>
                </a:solidFill>
                <a:effectLst/>
                <a:latin typeface="Arial" panose="020B0604020202020204" pitchFamily="34" charset="0"/>
                <a:cs typeface="Arial" panose="020B0604020202020204" pitchFamily="34" charset="0"/>
              </a:rPr>
              <a:t> con Java FX BD MySQL Interfaz Grafica GUI IntelliJ IDEA #java #mysql [Vídeo]. YouTube. https://www.youtube.com/watch?v=amnYCeDAQJ4</a:t>
            </a:r>
            <a:endParaRPr kumimoji="0" lang="es-MX" altLang="es-MX" sz="240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algn="just">
              <a:lnSpc>
                <a:spcPct val="150000"/>
              </a:lnSpc>
            </a:pPr>
            <a:endParaRPr lang="es-MX" sz="1600" dirty="0">
              <a:latin typeface="Arial" panose="020B0604020202020204" pitchFamily="34" charset="0"/>
              <a:cs typeface="Arial" panose="020B0604020202020204" pitchFamily="34" charset="0"/>
            </a:endParaRPr>
          </a:p>
          <a:p>
            <a:pPr algn="just"/>
            <a:endParaRPr lang="es-MX" sz="1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18418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1545</Words>
  <Application>Microsoft Office PowerPoint</Application>
  <PresentationFormat>Panorámica</PresentationFormat>
  <Paragraphs>134</Paragraphs>
  <Slides>20</Slides>
  <Notes>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Aptos</vt:lpstr>
      <vt:lpstr>Aptos Display</vt:lpstr>
      <vt:lpstr>Arial</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9</cp:revision>
  <dcterms:created xsi:type="dcterms:W3CDTF">2025-03-19T21:50:19Z</dcterms:created>
  <dcterms:modified xsi:type="dcterms:W3CDTF">2025-10-27T05:55:47Z</dcterms:modified>
</cp:coreProperties>
</file>